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Raleway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9EE8C3-6E89-4E62-9385-B69D290BDBCC}">
  <a:tblStyle styleId="{D09EE8C3-6E89-4E62-9385-B69D290BDBC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7534B07-5CA3-4235-B449-0CECDCAF33C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Raleway-regular.fntdata"/><Relationship Id="rId41" Type="http://schemas.openxmlformats.org/officeDocument/2006/relationships/slide" Target="slides/slide35.xml"/><Relationship Id="rId44" Type="http://schemas.openxmlformats.org/officeDocument/2006/relationships/font" Target="fonts/Raleway-italic.fntdata"/><Relationship Id="rId43" Type="http://schemas.openxmlformats.org/officeDocument/2006/relationships/font" Target="fonts/Raleway-bold.fntdata"/><Relationship Id="rId46" Type="http://schemas.openxmlformats.org/officeDocument/2006/relationships/font" Target="fonts/Lato-regular.fntdata"/><Relationship Id="rId45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69d83c59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69d83c59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69d83c59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69d83c59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6e3154023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6e3154023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69d83c59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69d83c59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69d83c59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69d83c59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69d83c59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69d83c59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69d83c59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69d83c59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69d83c59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69d83c59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69d83c59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69d83c59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6e3154023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6e3154023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69d83c59c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69d83c59c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69d83c59c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69d83c59c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69d83c59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69d83c59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69d83c59c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69d83c59c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69d83c59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69d83c59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c1cd00ec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c1cd00ec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c1cd00ec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c1cd00ec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c22b464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ec22b4643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c22b4643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ec22b4643d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c22b4643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ec22b4643d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c22b4643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ec22b4643d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c22b4643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ec22b4643d_0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c22b4643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ec22b4643d_0_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c22b4643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ec22b4643d_0_6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c22b4643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ec22b4643d_0_6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c22b4643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ec22b4643d_0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c22b4643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ec22b4643d_0_8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c22b4643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ec22b4643d_0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ec22b4643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ec22b4643d_0_9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c22b4643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ec22b4643d_0_10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c22b4643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ec22b4643d_0_1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c22b4643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ec22b4643d_0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869d83c59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869d83c59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c6e3154023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c6e3154023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g"/><Relationship Id="rId4" Type="http://schemas.openxmlformats.org/officeDocument/2006/relationships/image" Target="../media/image8.jpg"/><Relationship Id="rId5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Relationship Id="rId4" Type="http://schemas.openxmlformats.org/officeDocument/2006/relationships/image" Target="../media/image3.jpg"/><Relationship Id="rId5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jpg"/><Relationship Id="rId4" Type="http://schemas.openxmlformats.org/officeDocument/2006/relationships/image" Target="../media/image6.jpg"/><Relationship Id="rId5" Type="http://schemas.openxmlformats.org/officeDocument/2006/relationships/image" Target="../media/image1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idx="1" type="subTitle"/>
          </p:nvPr>
        </p:nvSpPr>
        <p:spPr>
          <a:xfrm>
            <a:off x="217725" y="508800"/>
            <a:ext cx="8681400" cy="41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A GEO-FENCED MOBILE ATTENDANCE MONITORING SYSTEM FOR ACADEMIC INSTITUTIONS</a:t>
            </a:r>
            <a:endParaRPr b="1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b="1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ESSIEN ABASIAMA</a:t>
            </a:r>
            <a:endParaRPr b="1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20201742</a:t>
            </a:r>
            <a:endParaRPr b="1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 ELECTRONIC ENGINEERING</a:t>
            </a:r>
            <a:endParaRPr b="1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OF ENGINEERING</a:t>
            </a:r>
            <a:endParaRPr b="1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FEDERAL UNIVERSITY OF AGRICULTURE, ABEOKUTA</a:t>
            </a:r>
            <a:endParaRPr b="1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ENGR. MATTHEW SIMEONE</a:t>
            </a:r>
            <a:endParaRPr b="1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DECEMBER, 2025.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idx="4294967295" type="title"/>
          </p:nvPr>
        </p:nvSpPr>
        <p:spPr>
          <a:xfrm>
            <a:off x="535775" y="712150"/>
            <a:ext cx="61689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Background to the study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299350" y="1480150"/>
            <a:ext cx="87357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Traditional manual and basic digital attendance systems are prone to impersonation and location-based fraud, reducing the reliability of attendance records.</a:t>
            </a:r>
            <a:b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Modern smartphones support GPS, biometric authentication, and real-time connectivity, enabling secure and automated attendance solutions.</a:t>
            </a:r>
            <a:b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Geofencing technology restricts attendance marking to defined lecture locations, ensuring physical presence verification.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1632036" y="122175"/>
            <a:ext cx="61689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Statement of Problem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5"/>
          <p:cNvSpPr txBox="1"/>
          <p:nvPr>
            <p:ph idx="4294967295" type="title"/>
          </p:nvPr>
        </p:nvSpPr>
        <p:spPr>
          <a:xfrm>
            <a:off x="535775" y="1480150"/>
            <a:ext cx="65943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Attendance fraud through proxy sig</a:t>
            </a: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ning and remote check-ins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No mechanism to verify c</a:t>
            </a: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ontinuous presence during lectures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Limited lecturer control over attendance processes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5"/>
          <p:cNvSpPr txBox="1"/>
          <p:nvPr>
            <p:ph idx="4294967295" type="title"/>
          </p:nvPr>
        </p:nvSpPr>
        <p:spPr>
          <a:xfrm>
            <a:off x="2056225" y="111575"/>
            <a:ext cx="4489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Cont’d</a:t>
            </a:r>
            <a:endParaRPr sz="36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Aim and Objectives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6"/>
          <p:cNvSpPr txBox="1"/>
          <p:nvPr>
            <p:ph idx="4294967295" type="title"/>
          </p:nvPr>
        </p:nvSpPr>
        <p:spPr>
          <a:xfrm>
            <a:off x="535775" y="1480150"/>
            <a:ext cx="8295300" cy="34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Aim: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900">
                <a:latin typeface="Times New Roman"/>
                <a:ea typeface="Times New Roman"/>
                <a:cs typeface="Times New Roman"/>
                <a:sym typeface="Times New Roman"/>
              </a:rPr>
              <a:t>To design and implement a Geo-Fenced Mobile attendance monitoring system for academic Institutions</a:t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Objectives: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b="0" lang="en" sz="1900">
                <a:latin typeface="Times New Roman"/>
                <a:ea typeface="Times New Roman"/>
                <a:cs typeface="Times New Roman"/>
                <a:sym typeface="Times New Roman"/>
              </a:rPr>
              <a:t>To implement a secure attendance verification system using device binding and biometric authentication to ensure accurate student identity validation.</a:t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6"/>
          <p:cNvSpPr txBox="1"/>
          <p:nvPr>
            <p:ph idx="4294967295" type="title"/>
          </p:nvPr>
        </p:nvSpPr>
        <p:spPr>
          <a:xfrm>
            <a:off x="2056225" y="111575"/>
            <a:ext cx="4489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Aim and Objectives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7"/>
          <p:cNvSpPr txBox="1"/>
          <p:nvPr>
            <p:ph idx="4294967295" type="title"/>
          </p:nvPr>
        </p:nvSpPr>
        <p:spPr>
          <a:xfrm>
            <a:off x="535775" y="1344079"/>
            <a:ext cx="8151900" cy="34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Objectives: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To enforce geo-fenced lecture locations so that attendance can only be recorded when students are physically present within designated lecture venues.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To enable timed and randomized attendance checks for continuous verification of student presence throughout the lecture duration.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To provide real-time attendance monitoring and analytical reporting tools to support effective decision-making by lecturers and academic administrators.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7"/>
          <p:cNvSpPr txBox="1"/>
          <p:nvPr>
            <p:ph idx="4294967295" type="title"/>
          </p:nvPr>
        </p:nvSpPr>
        <p:spPr>
          <a:xfrm>
            <a:off x="2056225" y="111575"/>
            <a:ext cx="4489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idx="4294967295" type="title"/>
          </p:nvPr>
        </p:nvSpPr>
        <p:spPr>
          <a:xfrm>
            <a:off x="535775" y="712150"/>
            <a:ext cx="64020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Justification of the Study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8"/>
          <p:cNvSpPr txBox="1"/>
          <p:nvPr>
            <p:ph idx="4294967295" type="title"/>
          </p:nvPr>
        </p:nvSpPr>
        <p:spPr>
          <a:xfrm>
            <a:off x="535775" y="1480150"/>
            <a:ext cx="70026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Enhances accuracy and credibility of attendance records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Improves academic discipline and accountability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Reduces manual workload for lecturers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Demonstrates real-world application of EEE principles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8"/>
          <p:cNvSpPr txBox="1"/>
          <p:nvPr>
            <p:ph idx="4294967295" type="title"/>
          </p:nvPr>
        </p:nvSpPr>
        <p:spPr>
          <a:xfrm>
            <a:off x="2056225" y="111575"/>
            <a:ext cx="4489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Scope of Study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9"/>
          <p:cNvSpPr txBox="1"/>
          <p:nvPr>
            <p:ph idx="4294967295" type="title"/>
          </p:nvPr>
        </p:nvSpPr>
        <p:spPr>
          <a:xfrm>
            <a:off x="535775" y="1208007"/>
            <a:ext cx="84042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Development of a mobile-based attendance monitoring system for university lecture halls using embedded smartphone sensors and communication modules.</a:t>
            </a:r>
            <a:b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Focus on system design, implementation, and integration, combining sensing, control logic, data processing, and wireless communication components.</a:t>
            </a:r>
            <a:b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Utilization of existing smartphone hardware and cloud-based infrastructure for data acquisition, processing, storage, and system control.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9"/>
          <p:cNvSpPr txBox="1"/>
          <p:nvPr>
            <p:ph idx="4294967295" type="title"/>
          </p:nvPr>
        </p:nvSpPr>
        <p:spPr>
          <a:xfrm>
            <a:off x="2056225" y="111575"/>
            <a:ext cx="4489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idx="4294967295" type="title"/>
          </p:nvPr>
        </p:nvSpPr>
        <p:spPr>
          <a:xfrm>
            <a:off x="486929" y="-53688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0" name="Google Shape;120;p20"/>
          <p:cNvGraphicFramePr/>
          <p:nvPr/>
        </p:nvGraphicFramePr>
        <p:xfrm>
          <a:off x="694525" y="7875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{D09EE8C3-6E89-4E62-9385-B69D290BDBCC}</a:tableStyleId>
              </a:tblPr>
              <a:tblGrid>
                <a:gridCol w="1608125"/>
                <a:gridCol w="2837900"/>
                <a:gridCol w="3058575"/>
              </a:tblGrid>
              <a:tr h="806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Attendance Approach</a:t>
                      </a:r>
                      <a:endParaRPr b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Limitations</a:t>
                      </a:r>
                      <a:endParaRPr b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Conventional Systems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Manual or basic digital attendance methods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error rates, prone to manipulation and spoofing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RFID / Biometric-Based Systems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RFID cards or biometric identifiers for authentication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 dedicated hardware; limited mobile platform integration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GPS-Based Systems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Verify user presence based on geographical location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Weak user authentication; no continuous presence monitoring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Integrated Cyber-Physical Systems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 geofencing, biometric verification, and device binding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implementation in existing studies, indicating a research gap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idx="4294967295" type="title"/>
          </p:nvPr>
        </p:nvSpPr>
        <p:spPr>
          <a:xfrm>
            <a:off x="535775" y="712150"/>
            <a:ext cx="64020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 Identified Research Gaps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1"/>
          <p:cNvSpPr txBox="1"/>
          <p:nvPr>
            <p:ph idx="4294967295" type="title"/>
          </p:nvPr>
        </p:nvSpPr>
        <p:spPr>
          <a:xfrm>
            <a:off x="535775" y="1480150"/>
            <a:ext cx="76830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Lack of integrated geo-fencing and biometric systems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Minimal use of device binding in attendance systems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Limited lecturer-controlled attendance models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Poor engineering-oriented system integration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Materials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2"/>
          <p:cNvSpPr txBox="1"/>
          <p:nvPr>
            <p:ph idx="4294967295" type="title"/>
          </p:nvPr>
        </p:nvSpPr>
        <p:spPr>
          <a:xfrm>
            <a:off x="535775" y="1480150"/>
            <a:ext cx="8451600" cy="32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1. Hardware Components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Smartphones (Android/iOS): Equipped with GPS, front-facing cameras, accelerometers, and wireless communication modules.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Server Infrastructure: Cloud-based servers for data processing, storage, and system control.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Development Workstations: Laptops or desktops for software development, simulation, and testing.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2"/>
          <p:cNvSpPr txBox="1"/>
          <p:nvPr>
            <p:ph idx="4294967295" type="title"/>
          </p:nvPr>
        </p:nvSpPr>
        <p:spPr>
          <a:xfrm>
            <a:off x="2056225" y="111575"/>
            <a:ext cx="54651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Materials and Methods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Materials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3"/>
          <p:cNvSpPr txBox="1"/>
          <p:nvPr>
            <p:ph idx="4294967295" type="title"/>
          </p:nvPr>
        </p:nvSpPr>
        <p:spPr>
          <a:xfrm>
            <a:off x="535775" y="1371293"/>
            <a:ext cx="8451600" cy="32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2. Software and Development Tools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Mobile Application Development</a:t>
            </a: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: React Native with JavaScript/TypeScript for cross-platform deployment.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Backend and API Development</a:t>
            </a: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: Laravel (PHP framework) implementing RESTful API architecture.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Database Management</a:t>
            </a: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: MySQL or PostgreSQL for relational data storage and query optimization.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Cloud Infrastructure:</a:t>
            </a: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 Linux-based servers (Ubuntu) with Nginx/Apache, SSL security, and automated backups.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3"/>
          <p:cNvSpPr txBox="1"/>
          <p:nvPr>
            <p:ph idx="4294967295" type="title"/>
          </p:nvPr>
        </p:nvSpPr>
        <p:spPr>
          <a:xfrm>
            <a:off x="2056225" y="111575"/>
            <a:ext cx="54651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Materials and Methods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Materials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4"/>
          <p:cNvSpPr txBox="1"/>
          <p:nvPr>
            <p:ph idx="4294967295" type="title"/>
          </p:nvPr>
        </p:nvSpPr>
        <p:spPr>
          <a:xfrm>
            <a:off x="535775" y="1363493"/>
            <a:ext cx="76218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3. External APIs and Libraries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Google Maps and Geolocation APIs for accurate positioning.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Geofencing APIs to enforce spatial boundaries.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Face Recognition Libraries (TensorFlow Lite, FaceNet) for biometric verification.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Device Fingerprinting Libraries for secure device identification.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Axios for secure client-server communication.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4"/>
          <p:cNvSpPr txBox="1"/>
          <p:nvPr>
            <p:ph idx="4294967295" type="title"/>
          </p:nvPr>
        </p:nvSpPr>
        <p:spPr>
          <a:xfrm>
            <a:off x="1462350" y="100950"/>
            <a:ext cx="67587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and Methods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idx="4294967295" type="title"/>
          </p:nvPr>
        </p:nvSpPr>
        <p:spPr>
          <a:xfrm>
            <a:off x="535775" y="603293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5"/>
          <p:cNvSpPr txBox="1"/>
          <p:nvPr>
            <p:ph idx="4294967295" type="title"/>
          </p:nvPr>
        </p:nvSpPr>
        <p:spPr>
          <a:xfrm>
            <a:off x="535775" y="1276050"/>
            <a:ext cx="82818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b="0" lang="en" sz="1900">
                <a:latin typeface="Times New Roman"/>
                <a:ea typeface="Times New Roman"/>
                <a:cs typeface="Times New Roman"/>
                <a:sym typeface="Times New Roman"/>
              </a:rPr>
              <a:t>Adopted a Design and Development Research (DDR) approach for systematic problem analysis, system modelling, implementation, and evaluation.</a:t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b="0" lang="en" sz="1900">
                <a:latin typeface="Times New Roman"/>
                <a:ea typeface="Times New Roman"/>
                <a:cs typeface="Times New Roman"/>
                <a:sym typeface="Times New Roman"/>
              </a:rPr>
              <a:t>Implemented a three-tier client–server architecture comprising presentation, application, and data layers for modularity and scalability.</a:t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b="0" lang="en" sz="1900">
                <a:latin typeface="Times New Roman"/>
                <a:ea typeface="Times New Roman"/>
                <a:cs typeface="Times New Roman"/>
                <a:sym typeface="Times New Roman"/>
              </a:rPr>
              <a:t>Developed a mobile application integrated with a backend server (Laravel) and relational database(MySQL)  to handle attendance recording, processing, and storage.</a:t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b="0" lang="en" sz="1900">
                <a:latin typeface="Times New Roman"/>
                <a:ea typeface="Times New Roman"/>
                <a:cs typeface="Times New Roman"/>
                <a:sym typeface="Times New Roman"/>
              </a:rPr>
              <a:t>Leveraged embedded smartphone sensors, GPS, geofencing, biometric authentication, and wireless communication for secure and real-time attendance verification using react native technology.</a:t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5"/>
          <p:cNvSpPr txBox="1"/>
          <p:nvPr>
            <p:ph idx="4294967295" type="title"/>
          </p:nvPr>
        </p:nvSpPr>
        <p:spPr>
          <a:xfrm>
            <a:off x="1028100" y="49529"/>
            <a:ext cx="708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and Methods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idx="4294967295" type="title"/>
          </p:nvPr>
        </p:nvSpPr>
        <p:spPr>
          <a:xfrm>
            <a:off x="535775" y="383390"/>
            <a:ext cx="8926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System Workflow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Flowchart Diagram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" name="Google Shape;160;p26" title="ChatGPT Image Feb 9, 2026, 05_53_49 PM.png"/>
          <p:cNvPicPr preferRelativeResize="0"/>
          <p:nvPr/>
        </p:nvPicPr>
        <p:blipFill rotWithShape="1">
          <a:blip r:embed="rId3">
            <a:alphaModFix/>
          </a:blip>
          <a:srcRect b="4957" l="0" r="0" t="6375"/>
          <a:stretch/>
        </p:blipFill>
        <p:spPr>
          <a:xfrm>
            <a:off x="3325238" y="1034730"/>
            <a:ext cx="3103601" cy="4127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6"/>
          <p:cNvSpPr txBox="1"/>
          <p:nvPr/>
        </p:nvSpPr>
        <p:spPr>
          <a:xfrm>
            <a:off x="8751375" y="1573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6"/>
          <p:cNvSpPr/>
          <p:nvPr/>
        </p:nvSpPr>
        <p:spPr>
          <a:xfrm>
            <a:off x="3629175" y="2038450"/>
            <a:ext cx="183000" cy="5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4907375" y="3749725"/>
            <a:ext cx="207000" cy="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26"/>
          <p:cNvSpPr/>
          <p:nvPr/>
        </p:nvSpPr>
        <p:spPr>
          <a:xfrm>
            <a:off x="5248125" y="3514675"/>
            <a:ext cx="207000" cy="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5" name="Google Shape;165;p26"/>
          <p:cNvCxnSpPr/>
          <p:nvPr/>
        </p:nvCxnSpPr>
        <p:spPr>
          <a:xfrm flipH="1" rot="10800000">
            <a:off x="4210375" y="3631300"/>
            <a:ext cx="915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6"/>
          <p:cNvSpPr/>
          <p:nvPr/>
        </p:nvSpPr>
        <p:spPr>
          <a:xfrm>
            <a:off x="5271375" y="3209675"/>
            <a:ext cx="155100" cy="1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4858925" y="3670375"/>
            <a:ext cx="279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Yes</a:t>
            </a:r>
            <a:endParaRPr sz="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26"/>
          <p:cNvSpPr/>
          <p:nvPr/>
        </p:nvSpPr>
        <p:spPr>
          <a:xfrm>
            <a:off x="5196875" y="3046950"/>
            <a:ext cx="183000" cy="5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26"/>
          <p:cNvSpPr/>
          <p:nvPr/>
        </p:nvSpPr>
        <p:spPr>
          <a:xfrm>
            <a:off x="5379875" y="2959350"/>
            <a:ext cx="886200" cy="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26"/>
          <p:cNvSpPr/>
          <p:nvPr/>
        </p:nvSpPr>
        <p:spPr>
          <a:xfrm>
            <a:off x="5306375" y="2905650"/>
            <a:ext cx="147900" cy="6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4919375" y="3164700"/>
            <a:ext cx="183000" cy="6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4949025" y="3100650"/>
            <a:ext cx="279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Yes</a:t>
            </a:r>
            <a:endParaRPr sz="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4007675" y="2777589"/>
            <a:ext cx="279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</a:t>
            </a:r>
            <a:endParaRPr sz="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4" name="Google Shape;174;p26"/>
          <p:cNvCxnSpPr>
            <a:stCxn id="169" idx="3"/>
            <a:endCxn id="169" idx="1"/>
          </p:cNvCxnSpPr>
          <p:nvPr/>
        </p:nvCxnSpPr>
        <p:spPr>
          <a:xfrm rot="10800000">
            <a:off x="5379875" y="3003150"/>
            <a:ext cx="88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26"/>
          <p:cNvSpPr/>
          <p:nvPr/>
        </p:nvSpPr>
        <p:spPr>
          <a:xfrm>
            <a:off x="6255525" y="3003152"/>
            <a:ext cx="155100" cy="32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5356698" y="3288290"/>
            <a:ext cx="155100" cy="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5379875" y="3605800"/>
            <a:ext cx="132000" cy="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8" name="Google Shape;178;p26"/>
          <p:cNvCxnSpPr/>
          <p:nvPr/>
        </p:nvCxnSpPr>
        <p:spPr>
          <a:xfrm flipH="1" rot="10800000">
            <a:off x="3740850" y="2992175"/>
            <a:ext cx="5517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6"/>
          <p:cNvCxnSpPr/>
          <p:nvPr/>
        </p:nvCxnSpPr>
        <p:spPr>
          <a:xfrm rot="10800000">
            <a:off x="3737250" y="2333900"/>
            <a:ext cx="3600" cy="65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idx="4294967295" type="title"/>
          </p:nvPr>
        </p:nvSpPr>
        <p:spPr>
          <a:xfrm>
            <a:off x="535775" y="383390"/>
            <a:ext cx="8926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Block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Diagram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8751375" y="1573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7" title="ChatGPT Image Feb 9, 2026, 06_04_32 PM.png"/>
          <p:cNvPicPr preferRelativeResize="0"/>
          <p:nvPr/>
        </p:nvPicPr>
        <p:blipFill rotWithShape="1">
          <a:blip r:embed="rId3">
            <a:alphaModFix/>
          </a:blip>
          <a:srcRect b="51837" l="0" r="0" t="-1149"/>
          <a:stretch/>
        </p:blipFill>
        <p:spPr>
          <a:xfrm>
            <a:off x="2443950" y="1151405"/>
            <a:ext cx="4982600" cy="368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Expected Results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8"/>
          <p:cNvSpPr txBox="1"/>
          <p:nvPr>
            <p:ph idx="4294967295" type="title"/>
          </p:nvPr>
        </p:nvSpPr>
        <p:spPr>
          <a:xfrm>
            <a:off x="535775" y="1480150"/>
            <a:ext cx="8390400" cy="3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Elimination of attendance fraud through device binding, biometric verification, and geofencing controls.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Accurate verification of physical presence using GPS-based location tracking and continuous monitoring during lectures.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Real-time monitoring and reporting via mobile interfaces and cloud-based data processing for lecturers and administrators.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Improved efficiency in attendance management by automating record-keeping, analytics, and system control.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9"/>
          <p:cNvSpPr txBox="1"/>
          <p:nvPr>
            <p:ph idx="4294967295" type="title"/>
          </p:nvPr>
        </p:nvSpPr>
        <p:spPr>
          <a:xfrm>
            <a:off x="535775" y="1480150"/>
            <a:ext cx="8390400" cy="3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This chapter presents results from the implementation, testing, and evaluation of the GeoTrack geo-fenced mobile attendance monitoring system.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Testing followed the path a real attendance takes: account registration and device binding, location (geofence) verification, identity (face) verification, the check-in decision, the timed attendance window with randomised presence checks, and notification delivery and dashboard reporting.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idx="4294967295" type="title"/>
          </p:nvPr>
        </p:nvSpPr>
        <p:spPr>
          <a:xfrm>
            <a:off x="535775" y="1133175"/>
            <a:ext cx="82818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Results cover positioning accuracy, face-verification performance, correctness of the check-in decision under both legitimate and fraudulent conditions, system response times, and platform stability under continuous and concurrent use.</a:t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30"/>
          <p:cNvSpPr txBox="1"/>
          <p:nvPr>
            <p:ph idx="4294967295" type="title"/>
          </p:nvPr>
        </p:nvSpPr>
        <p:spPr>
          <a:xfrm>
            <a:off x="1028100" y="49529"/>
            <a:ext cx="708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Discussions</a:t>
            </a: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Implementation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1"/>
          <p:cNvSpPr txBox="1"/>
          <p:nvPr/>
        </p:nvSpPr>
        <p:spPr>
          <a:xfrm>
            <a:off x="457200" y="1243226"/>
            <a:ext cx="51990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765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as a three-tier client–server application matching the Chapter Three architecture.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layer: React Native mobile app; application layer: Laravel RESTful backend; data layer: relational database.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layers communicate over secure HTTPS, with token-based sessions and a bound-device identifier on every sensitive request.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modules integrated and confirmed functional before testing.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1.jpeg" id="211" name="Google Shape;21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9818" y="1527358"/>
            <a:ext cx="994410" cy="2157363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2.jpeg" id="212" name="Google Shape;21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0080" y="1527358"/>
            <a:ext cx="994410" cy="2157363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3.jpeg" id="213" name="Google Shape;21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8141" y="1564553"/>
            <a:ext cx="960120" cy="2082973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4" name="Google Shape;214;p31"/>
          <p:cNvSpPr txBox="1"/>
          <p:nvPr/>
        </p:nvSpPr>
        <p:spPr>
          <a:xfrm>
            <a:off x="5504839" y="4114800"/>
            <a:ext cx="411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4.1: Home, class list, and class detail screens of the GeoTrack application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Registration &amp; Device Binding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32"/>
          <p:cNvSpPr txBox="1"/>
          <p:nvPr/>
        </p:nvSpPr>
        <p:spPr>
          <a:xfrm>
            <a:off x="457200" y="1337310"/>
            <a:ext cx="42978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Account Registration &amp; Authentication</a:t>
            </a:r>
            <a:endParaRPr b="1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▪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Two-step registration (personal details, then institution selection) with email one-time-code verification before access.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▪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Login issues a session token; device-binding then runs automatically.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▪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Unverified accounts were correctly prevented from signing in, consistently across all devices tested.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4.jpeg" id="222" name="Google Shape;22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3075" y="1527349"/>
            <a:ext cx="1144301" cy="248255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6.jpeg" id="223" name="Google Shape;22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7954" y="1527349"/>
            <a:ext cx="1144301" cy="2482586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5.jpeg" id="224" name="Google Shape;22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8090" y="1564550"/>
            <a:ext cx="1100825" cy="2388221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5" name="Google Shape;225;p32"/>
          <p:cNvSpPr txBox="1"/>
          <p:nvPr/>
        </p:nvSpPr>
        <p:spPr>
          <a:xfrm>
            <a:off x="5304931" y="4114800"/>
            <a:ext cx="411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4.2: Registration, institution selection, and email verification flow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Binding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33"/>
          <p:cNvSpPr txBox="1"/>
          <p:nvPr/>
        </p:nvSpPr>
        <p:spPr>
          <a:xfrm>
            <a:off x="457200" y="1268730"/>
            <a:ext cx="8229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495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▪"/>
            </a:pPr>
            <a:r>
              <a:rPr b="0" i="0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 device a student uses becomes the bound device; any attempt from a second device is rejected until the binding is explicitly reset — directly addressing impersonation.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457200" y="2285765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4.1: Device Binding Test Cases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4" name="Google Shape;234;p33"/>
          <p:cNvGraphicFramePr/>
          <p:nvPr/>
        </p:nvGraphicFramePr>
        <p:xfrm>
          <a:off x="457200" y="269922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{E7534B07-5CA3-4235-B449-0CECDCAF33C6}</a:tableStyleId>
              </a:tblPr>
              <a:tblGrid>
                <a:gridCol w="3108950"/>
                <a:gridCol w="3017525"/>
                <a:gridCol w="2103125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Scenario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Expected Behaviour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Observed Result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login on Device A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Account bound to Device A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Bound successfully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Re-login on Device A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Access granted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Granted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Login on Device B (same account)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Access blocked (device conflict)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Blocked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Check-in without device header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Request rejected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Reset device, then bind Device B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Old binding revoked, new device bound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Re-bound successfully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235" name="Google Shape;235;p33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Geofence Accuracy Testing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34"/>
          <p:cNvSpPr txBox="1"/>
          <p:nvPr/>
        </p:nvSpPr>
        <p:spPr>
          <a:xfrm>
            <a:off x="457200" y="1234440"/>
            <a:ext cx="52120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▪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50 m circular geofence was configured; attempts ranged from venue centre to well outside. The system made the correct admission decision in all trials; only points within a few metres of the boundary are GPS-sensitive.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34"/>
          <p:cNvSpPr txBox="1"/>
          <p:nvPr/>
        </p:nvSpPr>
        <p:spPr>
          <a:xfrm>
            <a:off x="365760" y="2309283"/>
            <a:ext cx="539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4.2: Geofence Positioning &amp; Boundary Decision (50 m radius)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3" name="Google Shape;243;p34"/>
          <p:cNvGraphicFramePr/>
          <p:nvPr/>
        </p:nvGraphicFramePr>
        <p:xfrm>
          <a:off x="365760" y="27109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{E7534B07-5CA3-4235-B449-0CECDCAF33C6}</a:tableStyleId>
              </a:tblPr>
              <a:tblGrid>
                <a:gridCol w="1737350"/>
                <a:gridCol w="914400"/>
                <a:gridCol w="868675"/>
                <a:gridCol w="685800"/>
                <a:gridCol w="548650"/>
                <a:gridCol w="1005850"/>
              </a:tblGrid>
              <a:tr h="315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Point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Actual (m)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 (m)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GPS ±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In?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Decision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 – near centre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±5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Granted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 – mid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24.7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±6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Granted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 – near edge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46.9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±8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Granted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Just outside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55.3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±9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Denied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Clearly outside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118.4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±7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Denied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Far (e.g. hostel)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406.2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±10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Denied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image10.jpeg" id="244" name="Google Shape;24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3364" y="470925"/>
            <a:ext cx="1751425" cy="3799699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5" name="Google Shape;245;p34"/>
          <p:cNvSpPr txBox="1"/>
          <p:nvPr/>
        </p:nvSpPr>
        <p:spPr>
          <a:xfrm>
            <a:off x="5948868" y="4270634"/>
            <a:ext cx="3200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4.4: Check-in map with geofence boundary and live position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34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 Verification Testing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35"/>
          <p:cNvSpPr txBox="1"/>
          <p:nvPr/>
        </p:nvSpPr>
        <p:spPr>
          <a:xfrm>
            <a:off x="365760" y="1220724"/>
            <a:ext cx="53949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▪"/>
            </a:pPr>
            <a:r>
              <a:rPr b="0" i="0" lang="en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live selfie is compared with the enrolled reference and accepted only when similarity exceeds the threshold (70%). Genuine students verified reliably; impostors rejected. Poor lighting / extreme angles can cause occasional false rejection.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35"/>
          <p:cNvSpPr txBox="1"/>
          <p:nvPr/>
        </p:nvSpPr>
        <p:spPr>
          <a:xfrm>
            <a:off x="365760" y="1954530"/>
            <a:ext cx="54864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4.3: Face Verification Performance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54" name="Google Shape;254;p35"/>
          <p:cNvGraphicFramePr/>
          <p:nvPr/>
        </p:nvGraphicFramePr>
        <p:xfrm>
          <a:off x="365760" y="226314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{E7534B07-5CA3-4235-B449-0CECDCAF33C6}</a:tableStyleId>
              </a:tblPr>
              <a:tblGrid>
                <a:gridCol w="1828800"/>
                <a:gridCol w="960125"/>
                <a:gridCol w="731525"/>
                <a:gridCol w="685800"/>
                <a:gridCol w="1005850"/>
                <a:gridCol w="1005850"/>
              </a:tblGrid>
              <a:tr h="24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Subject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Sim. %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Thr. %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Decision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Correct?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Good lighting, frontal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Genuine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80.4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Indoor moderate light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Genuine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78.7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 light / poor angle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Genuine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73.2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(FR)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Slight side angle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Genuine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76.6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Different person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Impostor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43.8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Different person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Impostor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51.0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Photo on screen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Spoof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57.5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Photo on screen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Impostor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72.1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(FA)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image15.jpeg" id="255" name="Google Shape;25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7977" y="1165860"/>
            <a:ext cx="1264444" cy="27432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6" name="Google Shape;256;p35"/>
          <p:cNvSpPr txBox="1"/>
          <p:nvPr/>
        </p:nvSpPr>
        <p:spPr>
          <a:xfrm>
            <a:off x="5943600" y="3977640"/>
            <a:ext cx="301752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4.5: Facial verification capture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hoto_2026-06-14_18-09-09" id="258" name="Google Shape;25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7660" y="1165860"/>
            <a:ext cx="1295400" cy="2811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Attendance Check-in Decision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36"/>
          <p:cNvSpPr txBox="1"/>
          <p:nvPr/>
        </p:nvSpPr>
        <p:spPr>
          <a:xfrm>
            <a:off x="365760" y="1220724"/>
            <a:ext cx="5394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▪"/>
            </a:pPr>
            <a:r>
              <a:rPr b="0" i="0" lang="en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full decision combines bound device, location inside the venue, a verified face, and the timing rule (present vs late). Attendance is granted only when every condition is met; refusals give a clear, specific reason.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6"/>
          <p:cNvSpPr txBox="1"/>
          <p:nvPr/>
        </p:nvSpPr>
        <p:spPr>
          <a:xfrm>
            <a:off x="365760" y="1920240"/>
            <a:ext cx="55778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4.4: Attendance Check-in Decision Across Scenarios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66" name="Google Shape;266;p36"/>
          <p:cNvGraphicFramePr/>
          <p:nvPr/>
        </p:nvGraphicFramePr>
        <p:xfrm>
          <a:off x="365760" y="222885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{E7534B07-5CA3-4235-B449-0CECDCAF33C6}</a:tableStyleId>
              </a:tblPr>
              <a:tblGrid>
                <a:gridCol w="868675"/>
                <a:gridCol w="1188725"/>
                <a:gridCol w="1051550"/>
                <a:gridCol w="1325875"/>
                <a:gridCol w="1463050"/>
              </a:tblGrid>
              <a:tr h="301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Device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Location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Face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Timing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Result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</a:tr>
              <a:tr h="30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Bound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 fence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On-time window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Marked PRESENT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30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Bound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 fence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After late threshold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Marked LATE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30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Bound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Outside fence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–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Within window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Rejected: not in venue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30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Bound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 fence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Within window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Rejected: face failed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30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Unbound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 fence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Within window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Rejected: device not bound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30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Bound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 fence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Session closed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Rejected: session inactive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7" name="Google Shape;267;p36"/>
          <p:cNvSpPr txBox="1"/>
          <p:nvPr/>
        </p:nvSpPr>
        <p:spPr>
          <a:xfrm>
            <a:off x="6035040" y="4306899"/>
            <a:ext cx="2926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4.6: Successful check-in confirmation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36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hoto_2026-06-14_18-03-09" id="269" name="Google Shape;26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4076" y="942325"/>
            <a:ext cx="1523250" cy="330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Attendance Window &amp; Presence Checks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37"/>
          <p:cNvSpPr txBox="1"/>
          <p:nvPr/>
        </p:nvSpPr>
        <p:spPr>
          <a:xfrm>
            <a:off x="457200" y="13030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Sessions became active only within their scheduled day and time window — attempts before opening or after closing were rejected.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7432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an active session, the backend issued presence checks at randomised intervals to students who had already checked in.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7432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who responded from inside the venue kept their "present-throughout" status, while a student who had left failed the presence check.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7432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confirms that continuous presence — not just an initial sign-in — is required, satisfying the in-lecture verification objective.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37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8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Notification Delivery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38"/>
          <p:cNvSpPr txBox="1"/>
          <p:nvPr/>
        </p:nvSpPr>
        <p:spPr>
          <a:xfrm>
            <a:off x="457200" y="1337310"/>
            <a:ext cx="51207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13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Shortly before a scheduled class, a push notification was dispatched to enrolled students and the lecturer, with an email reminder to those who enabled it.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Delivery was prompt: push notifications arrived within a few seconds, and emails within roughly ten seconds, subject to network conditions.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notification preferences were respected — disabling a channel suppressed messages on it — and reminders were sent only once per class per day.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8"/>
          <p:cNvSpPr txBox="1"/>
          <p:nvPr/>
        </p:nvSpPr>
        <p:spPr>
          <a:xfrm>
            <a:off x="5669280" y="4494060"/>
            <a:ext cx="3200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4.8: Class-reminder notification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38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hoto_2026-06-14_18-03-09" id="285" name="Google Shape;28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6824" y="778201"/>
            <a:ext cx="1712299" cy="37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Lecturer Dashboard &amp; Analytics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39"/>
          <p:cNvSpPr txBox="1"/>
          <p:nvPr/>
        </p:nvSpPr>
        <p:spPr>
          <a:xfrm>
            <a:off x="457200" y="1337310"/>
            <a:ext cx="42978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40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▪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Enrolled-student lists and attendance figures updated in real time without manual refresh.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▪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Per-student analytics computed attendance rate, punctuality, and session history directly from recorded data.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▪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Administrative actions — creating classes, assigning lecturers, sharing invite links, editing schedules — all reflected correctly.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16.jpeg" id="292" name="Google Shape;29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1527358"/>
            <a:ext cx="994410" cy="2157364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17.jpeg" id="293" name="Google Shape;29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1527358"/>
            <a:ext cx="994410" cy="2157364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18.jpeg" id="294" name="Google Shape;294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0" y="1564553"/>
            <a:ext cx="960120" cy="2082972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5" name="Google Shape;295;p39"/>
          <p:cNvSpPr txBox="1"/>
          <p:nvPr/>
        </p:nvSpPr>
        <p:spPr>
          <a:xfrm>
            <a:off x="4846320" y="4114800"/>
            <a:ext cx="41148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4.9: Per-student attendance analytics and reporting view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9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Long-Duration &amp; Load Testing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40"/>
          <p:cNvSpPr txBox="1"/>
          <p:nvPr/>
        </p:nvSpPr>
        <p:spPr>
          <a:xfrm>
            <a:off x="457200" y="13030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 an extended monitoring period the backend served requests without unexpected restarts, data loss, or session corruption.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7432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Scheduled tasks — opening due sessions, issuing presence checks, and sending reminders — ran on time.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7432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a concurrent-user test simulating multiple students checking in at once, the API stayed responsive and returned correct, isolated results for each user.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7432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false attendance was recorded under normal conditions, confirming suitability for a real lecture setting.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40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Performance Summary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41"/>
          <p:cNvSpPr txBox="1"/>
          <p:nvPr/>
        </p:nvSpPr>
        <p:spPr>
          <a:xfrm>
            <a:off x="457200" y="126873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4.5: System Performance Summary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0" name="Google Shape;310;p41"/>
          <p:cNvGraphicFramePr/>
          <p:nvPr/>
        </p:nvGraphicFramePr>
        <p:xfrm>
          <a:off x="457200" y="175275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{E7534B07-5CA3-4235-B449-0CECDCAF33C6}</a:tableStyleId>
              </a:tblPr>
              <a:tblGrid>
                <a:gridCol w="4937750"/>
                <a:gridCol w="3291850"/>
              </a:tblGrid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Metric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Achieved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Average check-in response time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≈ 3.6 s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Geofence admission decision accuracy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 (outside GPS-margin zone)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Face verification accuracy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≈ 70%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Device-binding enforcement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Push notification delivery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5 s avg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Email reminder delivery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≈ 10 s avg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Impersonation attempts blocked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70%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Location-spoofing attempts blocked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70%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Concurrent users tested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48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Backend availability during testing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≈ 80.8%</a:t>
                      </a:r>
                      <a:endParaRPr b="0" i="0" sz="13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1" name="Google Shape;311;p41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2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42"/>
          <p:cNvSpPr txBox="1"/>
          <p:nvPr/>
        </p:nvSpPr>
        <p:spPr>
          <a:xfrm>
            <a:off x="457200" y="1208946"/>
            <a:ext cx="82296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13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operated effectively under both legitimate and fraudulent conditions — present students verified and recorded quickly, with records propagating instantly to the lecturer’s dashboard.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fraud was blocked exactly as intended: outside-venue check-ins by the geofence, impersonation by facial verification, and second-phone attempts by device binding.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strength lies in combining three independent checks — location, identity, and device must agree simultaneously — plus a timed window with randomised presence checks.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limitations were inherent to the mobile technologies: GPS uncertainty at boundary edges and reduced face confidence under poor lighting or extreme angles.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42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43"/>
          <p:cNvSpPr txBox="1"/>
          <p:nvPr/>
        </p:nvSpPr>
        <p:spPr>
          <a:xfrm>
            <a:off x="457200" y="1138390"/>
            <a:ext cx="82296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40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GeoTrack was designed, implemented, and evaluated to tackle impersonation, location fraud, and the "sign-and-leave" problem in university attendance.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as a three-tier solution — React Native mobile app, Laravel RESTful backend, and a relational database — communicating securely over HTTPS.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logic combined four mechanisms: device binding, GPS geofencing, facial verification, and a lecturer-controlled timed window with randomised presence checks.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confirmed accurate location and facial verification, full device-binding enforcement, correct on-time/late classification, prompt notifications, and stable operation with no false attendance.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43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4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44"/>
          <p:cNvSpPr txBox="1"/>
          <p:nvPr/>
        </p:nvSpPr>
        <p:spPr>
          <a:xfrm>
            <a:off x="457200" y="1303020"/>
            <a:ext cx="8229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40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captured, verified, and recorded student attendance in real time, reflecting outcomes instantly on the lecturer and administrator dashboards.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confirmed a registered device, physical presence inside the geofence, and identity via facial verification before marking present — flagging late arrivals and rejecting invalid attempts with clear reasons.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Timed windows and randomised presence checks ensured attendance reflected genuine presence throughout the lecture, while analytics produced useful reports.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stated objective was achieved, delivering a secure, cost-effective, location- and identity-verified attendance system.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44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Recommendations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45"/>
          <p:cNvSpPr txBox="1"/>
          <p:nvPr/>
        </p:nvSpPr>
        <p:spPr>
          <a:xfrm>
            <a:off x="457200" y="1303020"/>
            <a:ext cx="8229600" cy="3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6035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Liveness detection: anti-spoofing (blink / motion) to strengthen identity checks against printed photos and screen replays.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27432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positioning: augment GPS with Wi-Fi / BLE beacons to reduce boundary uncertainty in indoor halls.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27432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Larger-scale, multi-institution deployment: evaluate scalability across many concurrent lecture halls and institutions.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27432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Analytics &amp; early-warning: predictive flags for students at risk of falling below attendance thresholds.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27432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Policy, privacy &amp; data-protection framework: formalise consent, retention, and secure handling of biometric and location data.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45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6"/>
          <p:cNvSpPr txBox="1"/>
          <p:nvPr>
            <p:ph idx="4294967295" type="title"/>
          </p:nvPr>
        </p:nvSpPr>
        <p:spPr>
          <a:xfrm>
            <a:off x="535775" y="480829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46"/>
          <p:cNvSpPr txBox="1"/>
          <p:nvPr>
            <p:ph idx="4294967295" type="title"/>
          </p:nvPr>
        </p:nvSpPr>
        <p:spPr>
          <a:xfrm>
            <a:off x="535775" y="1071924"/>
            <a:ext cx="8404200" cy="40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Wayahdi, M. R., and Dzikri, F. A. 2025. Integrating Facial Recognition and GPS Technology for Efficient Attendance Management in Educational Institutions. Proceeding of the International Conference on Electrical Engineering and Informatics, 1(2): 85–93. prosiding.arteii.or.id</a:t>
            </a:r>
            <a:endParaRPr b="0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SzPts val="2000"/>
              <a:buFont typeface="Times New Roman"/>
              <a:buChar char="●"/>
            </a:pP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Madhu B. G., Harshitha K. M., Mallika G. U., Vaibhavi B. D., and Vibha J. 2025. Mobile Based GPS Attendance System integrating GPS geofencing, BLE and facial verification. </a:t>
            </a:r>
            <a:r>
              <a:rPr b="0" i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IJRaset Journal for Research in Applied Science and Engineering Technology, </a:t>
            </a: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13(11)..3024 - 3028</a:t>
            </a:r>
            <a:r>
              <a:rPr b="0" i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https://doi.org/10.22214/ijraset.2025.75753 (ijraset.com)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/>
          <p:nvPr>
            <p:ph idx="4294967295" type="title"/>
          </p:nvPr>
        </p:nvSpPr>
        <p:spPr>
          <a:xfrm>
            <a:off x="535775" y="42640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47"/>
          <p:cNvSpPr txBox="1"/>
          <p:nvPr>
            <p:ph idx="4294967295" type="title"/>
          </p:nvPr>
        </p:nvSpPr>
        <p:spPr>
          <a:xfrm>
            <a:off x="535775" y="1112749"/>
            <a:ext cx="8499300" cy="36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353744"/>
              </a:buClr>
              <a:buSzPts val="2000"/>
              <a:buFont typeface="Times New Roman"/>
              <a:buChar char="●"/>
            </a:pP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Hemangi Patil, Omkar Darekar et al. 2025. Tick Mark: Geofencing Attendance System. </a:t>
            </a:r>
            <a:r>
              <a:rPr b="0" i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IJRaset Journal for Research in Applied Science and</a:t>
            </a:r>
            <a:r>
              <a:rPr b="0" i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Technology</a:t>
            </a: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13(4)..1269 - 1274</a:t>
            </a:r>
            <a:r>
              <a:rPr b="0" i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https://doi.org/10.22214/ijraset.2025.68524 (ijraset.com)</a:t>
            </a:r>
            <a:endParaRPr b="0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SzPts val="2000"/>
              <a:buFont typeface="Times New Roman"/>
              <a:buChar char="●"/>
            </a:pP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Rajamurugana, A., Rithickroshan, S., andSaneesh Kumar, V. 2025. Facial Recognition Attendance Monitoring System. IJRaset </a:t>
            </a:r>
            <a:r>
              <a:rPr b="0" i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 for Research in Applied Science and Engineering Technology.</a:t>
            </a: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https://doi.org/10.22214/ijraset.2025.70936 (ijraset.com)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