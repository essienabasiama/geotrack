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91" r:id="rId50"/>
    <p:sldId id="292" r:id="rId51"/>
    <p:sldId id="293" r:id="rId52"/>
    <p:sldId id="294" r:id="rId53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y="5143500" cx="9144000"/>
  <p:notesSz cx="6858000" cy="9144000"/>
  <p:embeddedFontLst>
    <p:embeddedFont>
      <p:font typeface="Raleway"/>
      <p:regular r:id="rId42"/>
      <p:bold r:id="rId43"/>
      <p:italic r:id="rId44"/>
      <p:boldItalic r:id="rId45"/>
    </p:embeddedFont>
    <p:embeddedFont>
      <p:font typeface="Lato"/>
      <p:regular r:id="rId46"/>
      <p:bold r:id="rId47"/>
      <p:italic r:id="rId48"/>
      <p:boldItalic r:id="rId4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09EE8C3-6E89-4E62-9385-B69D290BDBCC}">
  <a:tblStyle styleId="{D09EE8C3-6E89-4E62-9385-B69D290BDBC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E7534B07-5CA3-4235-B449-0CECDCAF33C6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font" Target="fonts/Raleway-regular.fntdata"/><Relationship Id="rId43" Type="http://schemas.openxmlformats.org/officeDocument/2006/relationships/font" Target="fonts/Raleway-bold.fntdata"/><Relationship Id="rId44" Type="http://schemas.openxmlformats.org/officeDocument/2006/relationships/font" Target="fonts/Raleway-italic.fntdata"/><Relationship Id="rId45" Type="http://schemas.openxmlformats.org/officeDocument/2006/relationships/font" Target="fonts/Raleway-boldItalic.fntdata"/><Relationship Id="rId46" Type="http://schemas.openxmlformats.org/officeDocument/2006/relationships/font" Target="fonts/Lato-regular.fntdata"/><Relationship Id="rId47" Type="http://schemas.openxmlformats.org/officeDocument/2006/relationships/font" Target="fonts/Lato-bold.fntdata"/><Relationship Id="rId48" Type="http://schemas.openxmlformats.org/officeDocument/2006/relationships/font" Target="fonts/Lato-italic.fntdata"/><Relationship Id="rId49" Type="http://schemas.openxmlformats.org/officeDocument/2006/relationships/font" Target="fonts/Lato-boldItalic.fntdata"/><Relationship Id="rId50" Type="http://schemas.openxmlformats.org/officeDocument/2006/relationships/slide" Target="slides/slide36.xml"/><Relationship Id="rId51" Type="http://schemas.openxmlformats.org/officeDocument/2006/relationships/slide" Target="slides/slide37.xml"/><Relationship Id="rId52" Type="http://schemas.openxmlformats.org/officeDocument/2006/relationships/slide" Target="slides/slide38.xml"/><Relationship Id="rId53" Type="http://schemas.openxmlformats.org/officeDocument/2006/relationships/slide" Target="slides/slide3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b9a0b07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cb9a0b07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869d83c59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869d83c59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869d83c59c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869d83c59c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c6e3154023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c6e3154023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869d83c59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869d83c59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869d83c59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869d83c59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869d83c59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869d83c59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869d83c59c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869d83c59c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869d83c59c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869d83c59c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869d83c59c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869d83c59c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c6e3154023_1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c6e3154023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869d83c59c_2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869d83c59c_2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869d83c59c_2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869d83c59c_2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869d83c59c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869d83c59c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869d83c59c_2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869d83c59c_2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869d83c59c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869d83c59c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ec1cd00ec2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ec1cd00ec2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ec1cd00ec2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ec1cd00ec2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ec22b4643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g3ec22b4643d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ec22b4643d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g3ec22b4643d_0_1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ec22b4643d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g3ec22b4643d_0_2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ec22b4643d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g3ec22b4643d_0_3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ec22b4643d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g3ec22b4643d_0_4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ec22b4643d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g3ec22b4643d_0_5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ec22b4643d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g3ec22b4643d_0_6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ec22b4643d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g3ec22b4643d_0_6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ec22b4643d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g3ec22b4643d_0_7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ec22b4643d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g3ec22b4643d_0_8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ec22b4643d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g3ec22b4643d_0_9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ec22b4643d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g3ec22b4643d_0_9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ec22b4643d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g3ec22b4643d_0_10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ec22b4643d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g3ec22b4643d_0_1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ec22b4643d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g3ec22b4643d_0_11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869d83c59c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869d83c59c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c6e3154023_1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3c6e3154023_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7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rgbClr val="353535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8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1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jpg"/><Relationship Id="rId4" Type="http://schemas.openxmlformats.org/officeDocument/2006/relationships/image" Target="../media/image8.jpg"/><Relationship Id="rId5" Type="http://schemas.openxmlformats.org/officeDocument/2006/relationships/image" Target="../media/image1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jpg"/><Relationship Id="rId4" Type="http://schemas.openxmlformats.org/officeDocument/2006/relationships/image" Target="../media/image3.jpg"/><Relationship Id="rId5" Type="http://schemas.openxmlformats.org/officeDocument/2006/relationships/image" Target="../media/image9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jpg"/><Relationship Id="rId4" Type="http://schemas.openxmlformats.org/officeDocument/2006/relationships/image" Target="../media/image5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7.jpg"/><Relationship Id="rId4" Type="http://schemas.openxmlformats.org/officeDocument/2006/relationships/image" Target="../media/image6.jpg"/><Relationship Id="rId5" Type="http://schemas.openxmlformats.org/officeDocument/2006/relationships/image" Target="../media/image12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idx="1" type="subTitle"/>
          </p:nvPr>
        </p:nvSpPr>
        <p:spPr>
          <a:xfrm>
            <a:off x="217725" y="508800"/>
            <a:ext cx="8681400" cy="412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 sz="2000">
                <a:solidFill>
                  <a:srgbClr val="3537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AND IMPLEMENTATION OF A GEO-FENCED MOBILE ATTENDANCE MONITORING SYSTEM FOR ACADEMIC INSTITUTIONS</a:t>
            </a:r>
            <a:endParaRPr b="1" sz="2000">
              <a:solidFill>
                <a:srgbClr val="3537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 sz="2000">
                <a:solidFill>
                  <a:srgbClr val="3537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</a:t>
            </a:r>
            <a:endParaRPr b="1" sz="2000">
              <a:solidFill>
                <a:srgbClr val="3537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 sz="2000">
                <a:solidFill>
                  <a:srgbClr val="3537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ESSIEN ABASIAMA</a:t>
            </a:r>
            <a:endParaRPr b="1" sz="2000">
              <a:solidFill>
                <a:srgbClr val="3537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3537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20201742</a:t>
            </a:r>
            <a:endParaRPr b="1" sz="2000">
              <a:solidFill>
                <a:srgbClr val="3537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 sz="2000">
                <a:solidFill>
                  <a:srgbClr val="3537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ELECTRICAL ELECTRONIC ENGINEERING</a:t>
            </a:r>
            <a:endParaRPr b="1" sz="2000">
              <a:solidFill>
                <a:srgbClr val="3537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 sz="2000">
                <a:solidFill>
                  <a:srgbClr val="3537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COLLEGE OF ENGINEERING</a:t>
            </a:r>
            <a:endParaRPr b="1" sz="2000">
              <a:solidFill>
                <a:srgbClr val="3537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 sz="2000">
                <a:solidFill>
                  <a:srgbClr val="3537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FEDERAL UNIVERSITY OF AGRICULTURE, ABEOKUTA</a:t>
            </a:r>
            <a:endParaRPr b="1" sz="2000">
              <a:solidFill>
                <a:srgbClr val="3537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 sz="2000">
                <a:solidFill>
                  <a:srgbClr val="3537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ENGR. MATTHEW SIMEONE</a:t>
            </a:r>
            <a:endParaRPr b="1" sz="2000">
              <a:solidFill>
                <a:srgbClr val="3537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2000">
                <a:solidFill>
                  <a:srgbClr val="3537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DECEMBER, 2025.</a:t>
            </a:r>
            <a:endParaRPr b="1" sz="2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4"/>
          <p:cNvSpPr txBox="1"/>
          <p:nvPr>
            <p:ph idx="4294967295" type="title"/>
          </p:nvPr>
        </p:nvSpPr>
        <p:spPr>
          <a:xfrm>
            <a:off x="535775" y="712150"/>
            <a:ext cx="61689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Background to the study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" name="Google Shape;78;p14"/>
          <p:cNvSpPr txBox="1"/>
          <p:nvPr>
            <p:ph idx="4294967295" type="title"/>
          </p:nvPr>
        </p:nvSpPr>
        <p:spPr>
          <a:xfrm>
            <a:off x="299350" y="1480150"/>
            <a:ext cx="8735700" cy="30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b="0" lang="en" sz="2000">
                <a:latin typeface="Times New Roman"/>
                <a:ea typeface="Times New Roman"/>
                <a:cs typeface="Times New Roman"/>
                <a:sym typeface="Times New Roman"/>
              </a:rPr>
              <a:t>Traditional manual and basic digital attendance systems are prone to impersonation and location-based fraud, reducing the reliability of attendance records.</a:t>
            </a:r>
            <a:br>
              <a:rPr b="0" lang="en" sz="20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0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b="0" lang="en" sz="2000">
                <a:latin typeface="Times New Roman"/>
                <a:ea typeface="Times New Roman"/>
                <a:cs typeface="Times New Roman"/>
                <a:sym typeface="Times New Roman"/>
              </a:rPr>
              <a:t>Modern smartphones support GPS, biometric authentication, and real-time connectivity, enabling secure and automated attendance solutions.</a:t>
            </a:r>
            <a:br>
              <a:rPr b="0" lang="en" sz="20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0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b="0" lang="en" sz="2000">
                <a:latin typeface="Times New Roman"/>
                <a:ea typeface="Times New Roman"/>
                <a:cs typeface="Times New Roman"/>
                <a:sym typeface="Times New Roman"/>
              </a:rPr>
              <a:t>Geofencing technology restricts attendance marking to defined lecture locations, ensuring physical presence verification.</a:t>
            </a:r>
            <a:endParaRPr b="0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" name="Google Shape;79;p14"/>
          <p:cNvSpPr txBox="1"/>
          <p:nvPr>
            <p:ph idx="4294967295" type="title"/>
          </p:nvPr>
        </p:nvSpPr>
        <p:spPr>
          <a:xfrm>
            <a:off x="1632036" y="122175"/>
            <a:ext cx="61689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2400">
              <a:solidFill>
                <a:srgbClr val="66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 txBox="1"/>
          <p:nvPr>
            <p:ph idx="4294967295" type="title"/>
          </p:nvPr>
        </p:nvSpPr>
        <p:spPr>
          <a:xfrm>
            <a:off x="535775" y="712150"/>
            <a:ext cx="51972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Statement of Problem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15"/>
          <p:cNvSpPr txBox="1"/>
          <p:nvPr>
            <p:ph idx="4294967295" type="title"/>
          </p:nvPr>
        </p:nvSpPr>
        <p:spPr>
          <a:xfrm>
            <a:off x="535775" y="1480150"/>
            <a:ext cx="6594300" cy="30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b="0" lang="en" sz="2000">
                <a:latin typeface="Times New Roman"/>
                <a:ea typeface="Times New Roman"/>
                <a:cs typeface="Times New Roman"/>
                <a:sym typeface="Times New Roman"/>
              </a:rPr>
              <a:t>Attendance fraud through proxy sig</a:t>
            </a:r>
            <a:r>
              <a:rPr b="0" lang="en" sz="2000">
                <a:latin typeface="Times New Roman"/>
                <a:ea typeface="Times New Roman"/>
                <a:cs typeface="Times New Roman"/>
                <a:sym typeface="Times New Roman"/>
              </a:rPr>
              <a:t>ning and remote check-ins</a:t>
            </a:r>
            <a:endParaRPr b="0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b="0" lang="en" sz="2000">
                <a:latin typeface="Times New Roman"/>
                <a:ea typeface="Times New Roman"/>
                <a:cs typeface="Times New Roman"/>
                <a:sym typeface="Times New Roman"/>
              </a:rPr>
              <a:t>No mechanism to verify c</a:t>
            </a:r>
            <a:r>
              <a:rPr b="0" lang="en" sz="2000">
                <a:latin typeface="Times New Roman"/>
                <a:ea typeface="Times New Roman"/>
                <a:cs typeface="Times New Roman"/>
                <a:sym typeface="Times New Roman"/>
              </a:rPr>
              <a:t>ontinuous presence during lectures</a:t>
            </a:r>
            <a:endParaRPr b="0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b="0" lang="en" sz="2000">
                <a:latin typeface="Times New Roman"/>
                <a:ea typeface="Times New Roman"/>
                <a:cs typeface="Times New Roman"/>
                <a:sym typeface="Times New Roman"/>
              </a:rPr>
              <a:t>Limited lecturer control over attendance processes</a:t>
            </a:r>
            <a:endParaRPr b="0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15"/>
          <p:cNvSpPr txBox="1"/>
          <p:nvPr>
            <p:ph idx="4294967295" type="title"/>
          </p:nvPr>
        </p:nvSpPr>
        <p:spPr>
          <a:xfrm>
            <a:off x="2056225" y="111575"/>
            <a:ext cx="44892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Cont’d</a:t>
            </a:r>
            <a:endParaRPr sz="3600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/>
          <p:cNvSpPr txBox="1"/>
          <p:nvPr>
            <p:ph idx="4294967295" type="title"/>
          </p:nvPr>
        </p:nvSpPr>
        <p:spPr>
          <a:xfrm>
            <a:off x="535775" y="712150"/>
            <a:ext cx="51972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Aim and Objectives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6"/>
          <p:cNvSpPr txBox="1"/>
          <p:nvPr>
            <p:ph idx="4294967295" type="title"/>
          </p:nvPr>
        </p:nvSpPr>
        <p:spPr>
          <a:xfrm>
            <a:off x="535775" y="1480150"/>
            <a:ext cx="8295300" cy="34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900">
                <a:latin typeface="Times New Roman"/>
                <a:ea typeface="Times New Roman"/>
                <a:cs typeface="Times New Roman"/>
                <a:sym typeface="Times New Roman"/>
              </a:rPr>
              <a:t>Aim: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lang="en" sz="1900">
                <a:latin typeface="Times New Roman"/>
                <a:ea typeface="Times New Roman"/>
                <a:cs typeface="Times New Roman"/>
                <a:sym typeface="Times New Roman"/>
              </a:rPr>
              <a:t>To design and implement a Geo-Fenced Mobile attendance monitoring system for academic Institutions</a:t>
            </a:r>
            <a:endParaRPr b="0"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900">
                <a:latin typeface="Times New Roman"/>
                <a:ea typeface="Times New Roman"/>
                <a:cs typeface="Times New Roman"/>
                <a:sym typeface="Times New Roman"/>
              </a:rPr>
              <a:t>Objectives: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b="0" lang="en" sz="1900">
                <a:latin typeface="Times New Roman"/>
                <a:ea typeface="Times New Roman"/>
                <a:cs typeface="Times New Roman"/>
                <a:sym typeface="Times New Roman"/>
              </a:rPr>
              <a:t>To implement a secure attendance verification system using device binding and biometric authentication to ensure accurate student identity validation.</a:t>
            </a:r>
            <a:endParaRPr b="0"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 b="0" sz="1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16"/>
          <p:cNvSpPr txBox="1"/>
          <p:nvPr>
            <p:ph idx="4294967295" type="title"/>
          </p:nvPr>
        </p:nvSpPr>
        <p:spPr>
          <a:xfrm>
            <a:off x="2056225" y="111575"/>
            <a:ext cx="44892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Cont’d</a:t>
            </a:r>
            <a:endParaRPr sz="3600">
              <a:solidFill>
                <a:srgbClr val="66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 txBox="1"/>
          <p:nvPr>
            <p:ph idx="4294967295" type="title"/>
          </p:nvPr>
        </p:nvSpPr>
        <p:spPr>
          <a:xfrm>
            <a:off x="535775" y="712150"/>
            <a:ext cx="51972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Aim and Objectives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Google Shape;99;p17"/>
          <p:cNvSpPr txBox="1"/>
          <p:nvPr>
            <p:ph idx="4294967295" type="title"/>
          </p:nvPr>
        </p:nvSpPr>
        <p:spPr>
          <a:xfrm>
            <a:off x="535775" y="1344079"/>
            <a:ext cx="8151900" cy="34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Objectives: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b="0" lang="en" sz="2000">
                <a:latin typeface="Times New Roman"/>
                <a:ea typeface="Times New Roman"/>
                <a:cs typeface="Times New Roman"/>
                <a:sym typeface="Times New Roman"/>
              </a:rPr>
              <a:t>To enforce geo-fenced lecture locations so that attendance can only be recorded when students are physically present within designated lecture venues.</a:t>
            </a:r>
            <a:endParaRPr b="0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b="0" lang="en" sz="2000">
                <a:latin typeface="Times New Roman"/>
                <a:ea typeface="Times New Roman"/>
                <a:cs typeface="Times New Roman"/>
                <a:sym typeface="Times New Roman"/>
              </a:rPr>
              <a:t>To enable timed and randomized attendance checks for continuous verification of student presence throughout the lecture duration.</a:t>
            </a:r>
            <a:endParaRPr b="0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b="0" lang="en" sz="2000">
                <a:latin typeface="Times New Roman"/>
                <a:ea typeface="Times New Roman"/>
                <a:cs typeface="Times New Roman"/>
                <a:sym typeface="Times New Roman"/>
              </a:rPr>
              <a:t>To provide real-time attendance monitoring and analytical reporting tools to support effective decision-making by lecturers and academic administrators.</a:t>
            </a:r>
            <a:endParaRPr b="0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" name="Google Shape;100;p17"/>
          <p:cNvSpPr txBox="1"/>
          <p:nvPr>
            <p:ph idx="4294967295" type="title"/>
          </p:nvPr>
        </p:nvSpPr>
        <p:spPr>
          <a:xfrm>
            <a:off x="2056225" y="111575"/>
            <a:ext cx="44892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Cont’d</a:t>
            </a:r>
            <a:endParaRPr sz="3600">
              <a:solidFill>
                <a:srgbClr val="66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/>
          <p:cNvSpPr txBox="1"/>
          <p:nvPr>
            <p:ph idx="4294967295" type="title"/>
          </p:nvPr>
        </p:nvSpPr>
        <p:spPr>
          <a:xfrm>
            <a:off x="535775" y="712150"/>
            <a:ext cx="64020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Justification of the Study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" name="Google Shape;106;p18"/>
          <p:cNvSpPr txBox="1"/>
          <p:nvPr>
            <p:ph idx="4294967295" type="title"/>
          </p:nvPr>
        </p:nvSpPr>
        <p:spPr>
          <a:xfrm>
            <a:off x="535775" y="1480150"/>
            <a:ext cx="7002600" cy="30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b="0" lang="en" sz="2000">
                <a:latin typeface="Times New Roman"/>
                <a:ea typeface="Times New Roman"/>
                <a:cs typeface="Times New Roman"/>
                <a:sym typeface="Times New Roman"/>
              </a:rPr>
              <a:t>Enhances accuracy and credibility of attendance records</a:t>
            </a:r>
            <a:endParaRPr b="0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b="0" lang="en" sz="2000">
                <a:latin typeface="Times New Roman"/>
                <a:ea typeface="Times New Roman"/>
                <a:cs typeface="Times New Roman"/>
                <a:sym typeface="Times New Roman"/>
              </a:rPr>
              <a:t>Improves academic discipline and accountability</a:t>
            </a:r>
            <a:endParaRPr b="0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b="0" lang="en" sz="2000">
                <a:latin typeface="Times New Roman"/>
                <a:ea typeface="Times New Roman"/>
                <a:cs typeface="Times New Roman"/>
                <a:sym typeface="Times New Roman"/>
              </a:rPr>
              <a:t>Reduces manual workload for lecturers</a:t>
            </a:r>
            <a:endParaRPr b="0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b="0" lang="en" sz="2000">
                <a:latin typeface="Times New Roman"/>
                <a:ea typeface="Times New Roman"/>
                <a:cs typeface="Times New Roman"/>
                <a:sym typeface="Times New Roman"/>
              </a:rPr>
              <a:t>Demonstrates real-world application of EEE principles</a:t>
            </a:r>
            <a:endParaRPr b="0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" name="Google Shape;107;p18"/>
          <p:cNvSpPr txBox="1"/>
          <p:nvPr>
            <p:ph idx="4294967295" type="title"/>
          </p:nvPr>
        </p:nvSpPr>
        <p:spPr>
          <a:xfrm>
            <a:off x="2056225" y="111575"/>
            <a:ext cx="44892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Cont’d</a:t>
            </a:r>
            <a:endParaRPr sz="3600">
              <a:solidFill>
                <a:srgbClr val="66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9"/>
          <p:cNvSpPr txBox="1"/>
          <p:nvPr>
            <p:ph idx="4294967295" type="title"/>
          </p:nvPr>
        </p:nvSpPr>
        <p:spPr>
          <a:xfrm>
            <a:off x="535775" y="712150"/>
            <a:ext cx="51972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Scope of Study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19"/>
          <p:cNvSpPr txBox="1"/>
          <p:nvPr>
            <p:ph idx="4294967295" type="title"/>
          </p:nvPr>
        </p:nvSpPr>
        <p:spPr>
          <a:xfrm>
            <a:off x="535775" y="1208007"/>
            <a:ext cx="8404200" cy="366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b="0" lang="en" sz="2000">
                <a:latin typeface="Times New Roman"/>
                <a:ea typeface="Times New Roman"/>
                <a:cs typeface="Times New Roman"/>
                <a:sym typeface="Times New Roman"/>
              </a:rPr>
              <a:t>Development of a mobile-based attendance monitoring system for university lecture halls using embedded smartphone sensors and communication modules.</a:t>
            </a:r>
            <a:br>
              <a:rPr b="0" lang="en" sz="20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0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b="0" lang="en" sz="2000">
                <a:latin typeface="Times New Roman"/>
                <a:ea typeface="Times New Roman"/>
                <a:cs typeface="Times New Roman"/>
                <a:sym typeface="Times New Roman"/>
              </a:rPr>
              <a:t>Focus on system design, implementation, and integration, combining sensing, control logic, data processing, and wireless communication components.</a:t>
            </a:r>
            <a:br>
              <a:rPr b="0" lang="en" sz="20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0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b="0" lang="en" sz="2000">
                <a:latin typeface="Times New Roman"/>
                <a:ea typeface="Times New Roman"/>
                <a:cs typeface="Times New Roman"/>
                <a:sym typeface="Times New Roman"/>
              </a:rPr>
              <a:t>Utilization of existing smartphone hardware and cloud-based infrastructure for data acquisition, processing, storage, and system control.</a:t>
            </a:r>
            <a:endParaRPr b="0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19"/>
          <p:cNvSpPr txBox="1"/>
          <p:nvPr>
            <p:ph idx="4294967295" type="title"/>
          </p:nvPr>
        </p:nvSpPr>
        <p:spPr>
          <a:xfrm>
            <a:off x="2056225" y="111575"/>
            <a:ext cx="44892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Cont’d</a:t>
            </a:r>
            <a:endParaRPr sz="3600">
              <a:solidFill>
                <a:srgbClr val="66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0"/>
          <p:cNvSpPr txBox="1"/>
          <p:nvPr>
            <p:ph idx="4294967295" type="title"/>
          </p:nvPr>
        </p:nvSpPr>
        <p:spPr>
          <a:xfrm>
            <a:off x="486929" y="-53688"/>
            <a:ext cx="51972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Literature Review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20" name="Google Shape;120;p20"/>
          <p:cNvGraphicFramePr/>
          <p:nvPr/>
        </p:nvGraphicFramePr>
        <p:xfrm>
          <a:off x="694525" y="78759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{D09EE8C3-6E89-4E62-9385-B69D290BDBCC}</a:tableStyleId>
              </a:tblPr>
              <a:tblGrid>
                <a:gridCol w="1608125"/>
                <a:gridCol w="2837900"/>
                <a:gridCol w="3058575"/>
              </a:tblGrid>
              <a:tr h="8060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Attendance Approach</a:t>
                      </a:r>
                      <a:endParaRPr b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537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537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537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537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</a:t>
                      </a:r>
                      <a:endParaRPr b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537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537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537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537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Key Limitations</a:t>
                      </a:r>
                      <a:endParaRPr b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537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537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537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537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3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Conventional Systems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537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537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537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537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Manual or basic digital attendance methods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537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537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537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537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High error rates, prone to manipulation and spoofing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537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537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537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537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66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RFID / Biometric-Based Systems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537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537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537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537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 RFID cards or biometric identifiers for authentication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537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537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537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537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Require dedicated hardware; limited mobile platform integration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537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537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537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537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3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GPS-Based Systems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537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537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537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537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Verify user presence based on geographical location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537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537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537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537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Weak user authentication; no continuous presence monitoring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537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537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537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537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18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Integrated Cyber-Physical Systems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537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537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537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537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Combine geofencing, biometric verification, and device binding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537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537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537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537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Limited implementation in existing studies, indicating a research gap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537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537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537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537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1"/>
          <p:cNvSpPr txBox="1"/>
          <p:nvPr>
            <p:ph idx="4294967295" type="title"/>
          </p:nvPr>
        </p:nvSpPr>
        <p:spPr>
          <a:xfrm>
            <a:off x="535775" y="712150"/>
            <a:ext cx="64020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 Identified Research Gaps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" name="Google Shape;126;p21"/>
          <p:cNvSpPr txBox="1"/>
          <p:nvPr>
            <p:ph idx="4294967295" type="title"/>
          </p:nvPr>
        </p:nvSpPr>
        <p:spPr>
          <a:xfrm>
            <a:off x="535775" y="1480150"/>
            <a:ext cx="7683000" cy="30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b="0" lang="en" sz="2000">
                <a:latin typeface="Times New Roman"/>
                <a:ea typeface="Times New Roman"/>
                <a:cs typeface="Times New Roman"/>
                <a:sym typeface="Times New Roman"/>
              </a:rPr>
              <a:t>Lack of integrated geo-fencing and biometric systems</a:t>
            </a:r>
            <a:endParaRPr b="0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b="0" lang="en" sz="2000">
                <a:latin typeface="Times New Roman"/>
                <a:ea typeface="Times New Roman"/>
                <a:cs typeface="Times New Roman"/>
                <a:sym typeface="Times New Roman"/>
              </a:rPr>
              <a:t>Minimal use of device binding in attendance systems</a:t>
            </a:r>
            <a:endParaRPr b="0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b="0" lang="en" sz="2000">
                <a:latin typeface="Times New Roman"/>
                <a:ea typeface="Times New Roman"/>
                <a:cs typeface="Times New Roman"/>
                <a:sym typeface="Times New Roman"/>
              </a:rPr>
              <a:t>Limited lecturer-controlled attendance models</a:t>
            </a:r>
            <a:endParaRPr b="0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b="0" lang="en" sz="2000">
                <a:latin typeface="Times New Roman"/>
                <a:ea typeface="Times New Roman"/>
                <a:cs typeface="Times New Roman"/>
                <a:sym typeface="Times New Roman"/>
              </a:rPr>
              <a:t>Poor engineering-oriented system integration</a:t>
            </a:r>
            <a:endParaRPr b="0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2"/>
          <p:cNvSpPr txBox="1"/>
          <p:nvPr>
            <p:ph idx="4294967295" type="title"/>
          </p:nvPr>
        </p:nvSpPr>
        <p:spPr>
          <a:xfrm>
            <a:off x="535775" y="712150"/>
            <a:ext cx="51972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Materials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" name="Google Shape;132;p22"/>
          <p:cNvSpPr txBox="1"/>
          <p:nvPr>
            <p:ph idx="4294967295" type="title"/>
          </p:nvPr>
        </p:nvSpPr>
        <p:spPr>
          <a:xfrm>
            <a:off x="535775" y="1480150"/>
            <a:ext cx="8451600" cy="32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lang="en" sz="2000">
                <a:latin typeface="Times New Roman"/>
                <a:ea typeface="Times New Roman"/>
                <a:cs typeface="Times New Roman"/>
                <a:sym typeface="Times New Roman"/>
              </a:rPr>
              <a:t>1. Hardware Components</a:t>
            </a:r>
            <a:endParaRPr b="0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b="0" lang="en" sz="2000">
                <a:latin typeface="Times New Roman"/>
                <a:ea typeface="Times New Roman"/>
                <a:cs typeface="Times New Roman"/>
                <a:sym typeface="Times New Roman"/>
              </a:rPr>
              <a:t>Smartphones (Android/iOS): Equipped with GPS, front-facing cameras, accelerometers, and wireless communication modules.</a:t>
            </a:r>
            <a:endParaRPr b="0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b="0" lang="en" sz="2000">
                <a:latin typeface="Times New Roman"/>
                <a:ea typeface="Times New Roman"/>
                <a:cs typeface="Times New Roman"/>
                <a:sym typeface="Times New Roman"/>
              </a:rPr>
              <a:t>Server Infrastructure: Cloud-based servers for data processing, storage, and system control.</a:t>
            </a:r>
            <a:endParaRPr b="0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b="0" lang="en" sz="2000">
                <a:latin typeface="Times New Roman"/>
                <a:ea typeface="Times New Roman"/>
                <a:cs typeface="Times New Roman"/>
                <a:sym typeface="Times New Roman"/>
              </a:rPr>
              <a:t>Development Workstations: Laptops or desktops for software development, simulation, and testing.</a:t>
            </a:r>
            <a:endParaRPr b="0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" name="Google Shape;133;p22"/>
          <p:cNvSpPr txBox="1"/>
          <p:nvPr>
            <p:ph idx="4294967295" type="title"/>
          </p:nvPr>
        </p:nvSpPr>
        <p:spPr>
          <a:xfrm>
            <a:off x="2056225" y="111575"/>
            <a:ext cx="54651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Materials and Methods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3"/>
          <p:cNvSpPr txBox="1"/>
          <p:nvPr>
            <p:ph idx="4294967295" type="title"/>
          </p:nvPr>
        </p:nvSpPr>
        <p:spPr>
          <a:xfrm>
            <a:off x="535775" y="712150"/>
            <a:ext cx="51972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Materials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" name="Google Shape;139;p23"/>
          <p:cNvSpPr txBox="1"/>
          <p:nvPr>
            <p:ph idx="4294967295" type="title"/>
          </p:nvPr>
        </p:nvSpPr>
        <p:spPr>
          <a:xfrm>
            <a:off x="535775" y="1371293"/>
            <a:ext cx="8451600" cy="32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lang="en" sz="2000">
                <a:latin typeface="Times New Roman"/>
                <a:ea typeface="Times New Roman"/>
                <a:cs typeface="Times New Roman"/>
                <a:sym typeface="Times New Roman"/>
              </a:rPr>
              <a:t>2. Software and Development Tools</a:t>
            </a:r>
            <a:endParaRPr b="0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Mobile Application Development</a:t>
            </a:r>
            <a:r>
              <a:rPr b="0" lang="en" sz="2000">
                <a:latin typeface="Times New Roman"/>
                <a:ea typeface="Times New Roman"/>
                <a:cs typeface="Times New Roman"/>
                <a:sym typeface="Times New Roman"/>
              </a:rPr>
              <a:t>: React Native with JavaScript/TypeScript for cross-platform deployment.</a:t>
            </a:r>
            <a:endParaRPr b="0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Backend and API Development</a:t>
            </a:r>
            <a:r>
              <a:rPr b="0" lang="en" sz="2000">
                <a:latin typeface="Times New Roman"/>
                <a:ea typeface="Times New Roman"/>
                <a:cs typeface="Times New Roman"/>
                <a:sym typeface="Times New Roman"/>
              </a:rPr>
              <a:t>: Laravel (PHP framework) implementing RESTful API architecture.</a:t>
            </a:r>
            <a:endParaRPr b="0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Database Management</a:t>
            </a:r>
            <a:r>
              <a:rPr b="0" lang="en" sz="2000">
                <a:latin typeface="Times New Roman"/>
                <a:ea typeface="Times New Roman"/>
                <a:cs typeface="Times New Roman"/>
                <a:sym typeface="Times New Roman"/>
              </a:rPr>
              <a:t>: MySQL or PostgreSQL for relational data storage and query optimization.</a:t>
            </a:r>
            <a:endParaRPr b="0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Cloud Infrastructure:</a:t>
            </a:r>
            <a:r>
              <a:rPr b="0" lang="en" sz="2000">
                <a:latin typeface="Times New Roman"/>
                <a:ea typeface="Times New Roman"/>
                <a:cs typeface="Times New Roman"/>
                <a:sym typeface="Times New Roman"/>
              </a:rPr>
              <a:t> Linux-based servers (Ubuntu) with Nginx/Apache, SSL security, and automated backups.</a:t>
            </a:r>
            <a:endParaRPr b="0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" name="Google Shape;140;p23"/>
          <p:cNvSpPr txBox="1"/>
          <p:nvPr>
            <p:ph idx="4294967295" type="title"/>
          </p:nvPr>
        </p:nvSpPr>
        <p:spPr>
          <a:xfrm>
            <a:off x="2056225" y="111575"/>
            <a:ext cx="54651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Materials and Methods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4"/>
          <p:cNvSpPr txBox="1"/>
          <p:nvPr>
            <p:ph idx="4294967295" type="title"/>
          </p:nvPr>
        </p:nvSpPr>
        <p:spPr>
          <a:xfrm>
            <a:off x="535775" y="712150"/>
            <a:ext cx="51972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Materials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" name="Google Shape;146;p24"/>
          <p:cNvSpPr txBox="1"/>
          <p:nvPr>
            <p:ph idx="4294967295" type="title"/>
          </p:nvPr>
        </p:nvSpPr>
        <p:spPr>
          <a:xfrm>
            <a:off x="535775" y="1363493"/>
            <a:ext cx="7621800" cy="366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lang="en" sz="2000">
                <a:latin typeface="Times New Roman"/>
                <a:ea typeface="Times New Roman"/>
                <a:cs typeface="Times New Roman"/>
                <a:sym typeface="Times New Roman"/>
              </a:rPr>
              <a:t>3. External APIs and Libraries</a:t>
            </a:r>
            <a:endParaRPr b="0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b="0" lang="en" sz="2000">
                <a:latin typeface="Times New Roman"/>
                <a:ea typeface="Times New Roman"/>
                <a:cs typeface="Times New Roman"/>
                <a:sym typeface="Times New Roman"/>
              </a:rPr>
              <a:t>Google Maps and Geolocation APIs for accurate positioning.</a:t>
            </a:r>
            <a:endParaRPr b="0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b="0" lang="en" sz="2000">
                <a:latin typeface="Times New Roman"/>
                <a:ea typeface="Times New Roman"/>
                <a:cs typeface="Times New Roman"/>
                <a:sym typeface="Times New Roman"/>
              </a:rPr>
              <a:t>Geofencing APIs to enforce spatial boundaries.</a:t>
            </a:r>
            <a:endParaRPr b="0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b="0" lang="en" sz="2000">
                <a:latin typeface="Times New Roman"/>
                <a:ea typeface="Times New Roman"/>
                <a:cs typeface="Times New Roman"/>
                <a:sym typeface="Times New Roman"/>
              </a:rPr>
              <a:t>Face Recognition Libraries (TensorFlow Lite, FaceNet) for biometric verification.</a:t>
            </a:r>
            <a:endParaRPr b="0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b="0" lang="en" sz="2000">
                <a:latin typeface="Times New Roman"/>
                <a:ea typeface="Times New Roman"/>
                <a:cs typeface="Times New Roman"/>
                <a:sym typeface="Times New Roman"/>
              </a:rPr>
              <a:t>Device Fingerprinting Libraries for secure device identification.</a:t>
            </a:r>
            <a:endParaRPr b="0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b="0" lang="en" sz="2000">
                <a:latin typeface="Times New Roman"/>
                <a:ea typeface="Times New Roman"/>
                <a:cs typeface="Times New Roman"/>
                <a:sym typeface="Times New Roman"/>
              </a:rPr>
              <a:t>Axios for secure client-server communication.</a:t>
            </a:r>
            <a:endParaRPr b="0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" name="Google Shape;147;p24"/>
          <p:cNvSpPr txBox="1"/>
          <p:nvPr>
            <p:ph idx="4294967295" type="title"/>
          </p:nvPr>
        </p:nvSpPr>
        <p:spPr>
          <a:xfrm>
            <a:off x="1462350" y="100950"/>
            <a:ext cx="67587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Materials and Methods Cont’d</a:t>
            </a:r>
            <a:endParaRPr sz="3600">
              <a:solidFill>
                <a:srgbClr val="66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5"/>
          <p:cNvSpPr txBox="1"/>
          <p:nvPr>
            <p:ph idx="4294967295" type="title"/>
          </p:nvPr>
        </p:nvSpPr>
        <p:spPr>
          <a:xfrm>
            <a:off x="535775" y="603293"/>
            <a:ext cx="51972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25"/>
          <p:cNvSpPr txBox="1"/>
          <p:nvPr>
            <p:ph idx="4294967295" type="title"/>
          </p:nvPr>
        </p:nvSpPr>
        <p:spPr>
          <a:xfrm>
            <a:off x="535775" y="1276050"/>
            <a:ext cx="8281800" cy="366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b="0" lang="en" sz="1900">
                <a:latin typeface="Times New Roman"/>
                <a:ea typeface="Times New Roman"/>
                <a:cs typeface="Times New Roman"/>
                <a:sym typeface="Times New Roman"/>
              </a:rPr>
              <a:t>Adopted a Design and Development Research (DDR) approach for systematic problem analysis, system modelling, implementation, and evaluation.</a:t>
            </a:r>
            <a:endParaRPr b="0"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b="0" lang="en" sz="1900">
                <a:latin typeface="Times New Roman"/>
                <a:ea typeface="Times New Roman"/>
                <a:cs typeface="Times New Roman"/>
                <a:sym typeface="Times New Roman"/>
              </a:rPr>
              <a:t>Implemented a three-tier client–server architecture comprising presentation, application, and data layers for modularity and scalability.</a:t>
            </a:r>
            <a:endParaRPr b="0"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b="0" lang="en" sz="1900">
                <a:latin typeface="Times New Roman"/>
                <a:ea typeface="Times New Roman"/>
                <a:cs typeface="Times New Roman"/>
                <a:sym typeface="Times New Roman"/>
              </a:rPr>
              <a:t>Developed a mobile application integrated with a backend server (Laravel) and relational database(MySQL)  to handle attendance recording, processing, and storage.</a:t>
            </a:r>
            <a:endParaRPr b="0"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b="0" lang="en" sz="1900">
                <a:latin typeface="Times New Roman"/>
                <a:ea typeface="Times New Roman"/>
                <a:cs typeface="Times New Roman"/>
                <a:sym typeface="Times New Roman"/>
              </a:rPr>
              <a:t>Leveraged embedded smartphone sensors, GPS, geofencing, biometric authentication, and wireless communication for secure and real-time attendance verification using react native technology.</a:t>
            </a:r>
            <a:endParaRPr b="0" sz="1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" name="Google Shape;154;p25"/>
          <p:cNvSpPr txBox="1"/>
          <p:nvPr>
            <p:ph idx="4294967295" type="title"/>
          </p:nvPr>
        </p:nvSpPr>
        <p:spPr>
          <a:xfrm>
            <a:off x="1028100" y="49529"/>
            <a:ext cx="70878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Materials and Methods Cont’d</a:t>
            </a:r>
            <a:endParaRPr sz="3600">
              <a:solidFill>
                <a:srgbClr val="66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6"/>
          <p:cNvSpPr txBox="1"/>
          <p:nvPr>
            <p:ph idx="4294967295" type="title"/>
          </p:nvPr>
        </p:nvSpPr>
        <p:spPr>
          <a:xfrm>
            <a:off x="535775" y="383390"/>
            <a:ext cx="89262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System Workflow</a:t>
            </a: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/</a:t>
            </a: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Flowchart Diagram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0" name="Google Shape;160;p26" title="ChatGPT Image Feb 9, 2026, 05_53_49 PM.png"/>
          <p:cNvPicPr preferRelativeResize="0"/>
          <p:nvPr/>
        </p:nvPicPr>
        <p:blipFill rotWithShape="1">
          <a:blip r:embed="rId3">
            <a:alphaModFix/>
          </a:blip>
          <a:srcRect b="4957" l="0" r="0" t="6375"/>
          <a:stretch/>
        </p:blipFill>
        <p:spPr>
          <a:xfrm>
            <a:off x="3325238" y="1034730"/>
            <a:ext cx="3103601" cy="4127624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6"/>
          <p:cNvSpPr txBox="1"/>
          <p:nvPr/>
        </p:nvSpPr>
        <p:spPr>
          <a:xfrm>
            <a:off x="8751375" y="15738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6"/>
          <p:cNvSpPr/>
          <p:nvPr/>
        </p:nvSpPr>
        <p:spPr>
          <a:xfrm>
            <a:off x="3629175" y="2038450"/>
            <a:ext cx="183000" cy="53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3" name="Google Shape;163;p26"/>
          <p:cNvSpPr/>
          <p:nvPr/>
        </p:nvSpPr>
        <p:spPr>
          <a:xfrm>
            <a:off x="4907375" y="3749725"/>
            <a:ext cx="207000" cy="87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4" name="Google Shape;164;p26"/>
          <p:cNvSpPr/>
          <p:nvPr/>
        </p:nvSpPr>
        <p:spPr>
          <a:xfrm>
            <a:off x="5248125" y="3514675"/>
            <a:ext cx="207000" cy="87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65" name="Google Shape;165;p26"/>
          <p:cNvCxnSpPr/>
          <p:nvPr/>
        </p:nvCxnSpPr>
        <p:spPr>
          <a:xfrm flipH="1" rot="10800000">
            <a:off x="4210375" y="3631300"/>
            <a:ext cx="91500" cy="10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6" name="Google Shape;166;p26"/>
          <p:cNvSpPr/>
          <p:nvPr/>
        </p:nvSpPr>
        <p:spPr>
          <a:xfrm>
            <a:off x="5271375" y="3209675"/>
            <a:ext cx="155100" cy="189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7" name="Google Shape;167;p26"/>
          <p:cNvSpPr txBox="1"/>
          <p:nvPr/>
        </p:nvSpPr>
        <p:spPr>
          <a:xfrm>
            <a:off x="4858925" y="3670375"/>
            <a:ext cx="2799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Yes</a:t>
            </a:r>
            <a:endParaRPr sz="4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8" name="Google Shape;168;p26"/>
          <p:cNvSpPr/>
          <p:nvPr/>
        </p:nvSpPr>
        <p:spPr>
          <a:xfrm>
            <a:off x="5196875" y="3046950"/>
            <a:ext cx="183000" cy="53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9" name="Google Shape;169;p26"/>
          <p:cNvSpPr/>
          <p:nvPr/>
        </p:nvSpPr>
        <p:spPr>
          <a:xfrm>
            <a:off x="5379875" y="2959350"/>
            <a:ext cx="886200" cy="87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0" name="Google Shape;170;p26"/>
          <p:cNvSpPr/>
          <p:nvPr/>
        </p:nvSpPr>
        <p:spPr>
          <a:xfrm>
            <a:off x="5306375" y="2905650"/>
            <a:ext cx="147900" cy="62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1" name="Google Shape;171;p26"/>
          <p:cNvSpPr/>
          <p:nvPr/>
        </p:nvSpPr>
        <p:spPr>
          <a:xfrm>
            <a:off x="4919375" y="3164700"/>
            <a:ext cx="183000" cy="62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2" name="Google Shape;172;p26"/>
          <p:cNvSpPr txBox="1"/>
          <p:nvPr/>
        </p:nvSpPr>
        <p:spPr>
          <a:xfrm>
            <a:off x="4949025" y="3100650"/>
            <a:ext cx="2799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Yes</a:t>
            </a:r>
            <a:endParaRPr sz="4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3" name="Google Shape;173;p26"/>
          <p:cNvSpPr txBox="1"/>
          <p:nvPr/>
        </p:nvSpPr>
        <p:spPr>
          <a:xfrm>
            <a:off x="4007675" y="2777589"/>
            <a:ext cx="2799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No</a:t>
            </a:r>
            <a:endParaRPr sz="4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74" name="Google Shape;174;p26"/>
          <p:cNvCxnSpPr>
            <a:stCxn id="169" idx="3"/>
            <a:endCxn id="169" idx="1"/>
          </p:cNvCxnSpPr>
          <p:nvPr/>
        </p:nvCxnSpPr>
        <p:spPr>
          <a:xfrm rot="10800000">
            <a:off x="5379875" y="3003150"/>
            <a:ext cx="886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5" name="Google Shape;175;p26"/>
          <p:cNvSpPr/>
          <p:nvPr/>
        </p:nvSpPr>
        <p:spPr>
          <a:xfrm>
            <a:off x="6255525" y="3003152"/>
            <a:ext cx="155100" cy="326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6" name="Google Shape;176;p26"/>
          <p:cNvSpPr/>
          <p:nvPr/>
        </p:nvSpPr>
        <p:spPr>
          <a:xfrm>
            <a:off x="5356698" y="3288290"/>
            <a:ext cx="155100" cy="87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7" name="Google Shape;177;p26"/>
          <p:cNvSpPr/>
          <p:nvPr/>
        </p:nvSpPr>
        <p:spPr>
          <a:xfrm>
            <a:off x="5379875" y="3605800"/>
            <a:ext cx="132000" cy="87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78" name="Google Shape;178;p26"/>
          <p:cNvCxnSpPr/>
          <p:nvPr/>
        </p:nvCxnSpPr>
        <p:spPr>
          <a:xfrm flipH="1" rot="10800000">
            <a:off x="3740850" y="2992175"/>
            <a:ext cx="551700" cy="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" name="Google Shape;179;p26"/>
          <p:cNvCxnSpPr/>
          <p:nvPr/>
        </p:nvCxnSpPr>
        <p:spPr>
          <a:xfrm rot="10800000">
            <a:off x="3737250" y="2333900"/>
            <a:ext cx="3600" cy="658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7"/>
          <p:cNvSpPr txBox="1"/>
          <p:nvPr>
            <p:ph idx="4294967295" type="title"/>
          </p:nvPr>
        </p:nvSpPr>
        <p:spPr>
          <a:xfrm>
            <a:off x="535775" y="383390"/>
            <a:ext cx="89262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Block</a:t>
            </a: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Diagram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5" name="Google Shape;185;p27"/>
          <p:cNvSpPr txBox="1"/>
          <p:nvPr/>
        </p:nvSpPr>
        <p:spPr>
          <a:xfrm>
            <a:off x="8751375" y="15738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6" name="Google Shape;186;p27" title="ChatGPT Image Feb 9, 2026, 06_04_32 PM.png"/>
          <p:cNvPicPr preferRelativeResize="0"/>
          <p:nvPr/>
        </p:nvPicPr>
        <p:blipFill rotWithShape="1">
          <a:blip r:embed="rId3">
            <a:alphaModFix/>
          </a:blip>
          <a:srcRect b="51837" l="0" r="0" t="-1149"/>
          <a:stretch/>
        </p:blipFill>
        <p:spPr>
          <a:xfrm>
            <a:off x="2443950" y="1151405"/>
            <a:ext cx="4982600" cy="3685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8"/>
          <p:cNvSpPr txBox="1"/>
          <p:nvPr>
            <p:ph idx="4294967295" type="title"/>
          </p:nvPr>
        </p:nvSpPr>
        <p:spPr>
          <a:xfrm>
            <a:off x="535775" y="712150"/>
            <a:ext cx="51972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Expected Results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" name="Google Shape;192;p28"/>
          <p:cNvSpPr txBox="1"/>
          <p:nvPr>
            <p:ph idx="4294967295" type="title"/>
          </p:nvPr>
        </p:nvSpPr>
        <p:spPr>
          <a:xfrm>
            <a:off x="535775" y="1480150"/>
            <a:ext cx="8390400" cy="33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b="0" lang="en" sz="2000">
                <a:latin typeface="Times New Roman"/>
                <a:ea typeface="Times New Roman"/>
                <a:cs typeface="Times New Roman"/>
                <a:sym typeface="Times New Roman"/>
              </a:rPr>
              <a:t>Elimination of attendance fraud through device binding, biometric verification, and geofencing controls.</a:t>
            </a:r>
            <a:endParaRPr b="0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b="0" lang="en" sz="2000">
                <a:latin typeface="Times New Roman"/>
                <a:ea typeface="Times New Roman"/>
                <a:cs typeface="Times New Roman"/>
                <a:sym typeface="Times New Roman"/>
              </a:rPr>
              <a:t>Accurate verification of physical presence using GPS-based location tracking and continuous monitoring during lectures.</a:t>
            </a:r>
            <a:endParaRPr b="0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b="0" lang="en" sz="2000">
                <a:latin typeface="Times New Roman"/>
                <a:ea typeface="Times New Roman"/>
                <a:cs typeface="Times New Roman"/>
                <a:sym typeface="Times New Roman"/>
              </a:rPr>
              <a:t>Real-time monitoring and reporting via mobile interfaces and cloud-based data processing for lecturers and administrators.</a:t>
            </a:r>
            <a:endParaRPr b="0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b="0" lang="en" sz="2000">
                <a:latin typeface="Times New Roman"/>
                <a:ea typeface="Times New Roman"/>
                <a:cs typeface="Times New Roman"/>
                <a:sym typeface="Times New Roman"/>
              </a:rPr>
              <a:t>Improved efficiency in attendance management by automating record-keeping, analytics, and system control.</a:t>
            </a:r>
            <a:endParaRPr b="0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9"/>
          <p:cNvSpPr txBox="1"/>
          <p:nvPr>
            <p:ph idx="4294967295" type="title"/>
          </p:nvPr>
        </p:nvSpPr>
        <p:spPr>
          <a:xfrm>
            <a:off x="535775" y="712150"/>
            <a:ext cx="51972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Results and Discussion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8" name="Google Shape;198;p29"/>
          <p:cNvSpPr txBox="1"/>
          <p:nvPr>
            <p:ph idx="4294967295" type="title"/>
          </p:nvPr>
        </p:nvSpPr>
        <p:spPr>
          <a:xfrm>
            <a:off x="535775" y="1480150"/>
            <a:ext cx="8390400" cy="33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b="0" lang="en" sz="2000">
                <a:latin typeface="Times New Roman"/>
                <a:ea typeface="Times New Roman"/>
                <a:cs typeface="Times New Roman"/>
                <a:sym typeface="Times New Roman"/>
              </a:rPr>
              <a:t>This chapter presents results from the implementation, testing, and evaluation of the GeoTrack geo-fenced mobile attendance monitoring system.</a:t>
            </a:r>
            <a:endParaRPr b="0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b="0" lang="en" sz="2000">
                <a:latin typeface="Times New Roman"/>
                <a:ea typeface="Times New Roman"/>
                <a:cs typeface="Times New Roman"/>
                <a:sym typeface="Times New Roman"/>
              </a:rPr>
              <a:t>Testing followed the path a real attendance takes: account registration and device binding, location (geofence) verification, identity (face) verification, the check-in decision, the timed attendance window with randomised presence checks, and notification delivery and dashboard reporting.</a:t>
            </a:r>
            <a:endParaRPr b="0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0"/>
          <p:cNvSpPr txBox="1"/>
          <p:nvPr>
            <p:ph idx="4294967295" type="title"/>
          </p:nvPr>
        </p:nvSpPr>
        <p:spPr>
          <a:xfrm>
            <a:off x="535775" y="1133175"/>
            <a:ext cx="8281800" cy="366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b="0" lang="en" sz="2000">
                <a:latin typeface="Times New Roman"/>
                <a:ea typeface="Times New Roman"/>
                <a:cs typeface="Times New Roman"/>
                <a:sym typeface="Times New Roman"/>
              </a:rPr>
              <a:t>Results cover positioning accuracy, face-verification performance, correctness of the check-in decision under both legitimate and fraudulent conditions, system response times, and platform stability under continuous and concurrent use.</a:t>
            </a:r>
            <a:endParaRPr b="0" sz="1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" name="Google Shape;204;p30"/>
          <p:cNvSpPr txBox="1"/>
          <p:nvPr>
            <p:ph idx="4294967295" type="title"/>
          </p:nvPr>
        </p:nvSpPr>
        <p:spPr>
          <a:xfrm>
            <a:off x="1028100" y="49529"/>
            <a:ext cx="70878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 and Discussions</a:t>
            </a:r>
            <a:r>
              <a:rPr lang="en" sz="36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Cont’d</a:t>
            </a:r>
            <a:endParaRPr sz="3600">
              <a:solidFill>
                <a:srgbClr val="66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1"/>
          <p:cNvSpPr txBox="1"/>
          <p:nvPr/>
        </p:nvSpPr>
        <p:spPr>
          <a:xfrm>
            <a:off x="457200" y="617220"/>
            <a:ext cx="8229600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Implementation</a:t>
            </a:r>
            <a:endParaRPr b="1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0" name="Google Shape;210;p31"/>
          <p:cNvSpPr txBox="1"/>
          <p:nvPr/>
        </p:nvSpPr>
        <p:spPr>
          <a:xfrm>
            <a:off x="457200" y="1243226"/>
            <a:ext cx="5199000" cy="36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47650" lvl="0" marL="27432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▪"/>
            </a:pPr>
            <a:r>
              <a:rPr b="0" i="0" lang="e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Implemented as a three-tier client–server application matching the Chapter Three architecture.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47650" lvl="0" marL="27432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▪"/>
            </a:pPr>
            <a:r>
              <a:rPr b="0" i="0" lang="e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Presentation layer: React Native mobile app; application layer: Laravel RESTful backend; data layer: relational database.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47650" lvl="0" marL="27432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▪"/>
            </a:pPr>
            <a:r>
              <a:rPr b="0" i="0" lang="e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layers communicate over secure HTTPS, with token-based sessions and a bound-device identifier on every sensitive request.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47650" lvl="0" marL="27432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▪"/>
            </a:pPr>
            <a:r>
              <a:rPr b="0" i="0" lang="e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modules integrated and confirmed functional before testing.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image1.jpeg" id="211" name="Google Shape;21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79818" y="1527358"/>
            <a:ext cx="994410" cy="2157363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image2.jpeg" id="212" name="Google Shape;212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90080" y="1527358"/>
            <a:ext cx="994410" cy="2157363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image3.jpeg" id="213" name="Google Shape;213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78141" y="1564553"/>
            <a:ext cx="960120" cy="2082973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14" name="Google Shape;214;p31"/>
          <p:cNvSpPr txBox="1"/>
          <p:nvPr/>
        </p:nvSpPr>
        <p:spPr>
          <a:xfrm>
            <a:off x="5504839" y="4114800"/>
            <a:ext cx="4114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4.1: Home, class list, and class detail screens of the GeoTrack application</a:t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5" name="Google Shape;215;p31"/>
          <p:cNvSpPr txBox="1"/>
          <p:nvPr/>
        </p:nvSpPr>
        <p:spPr>
          <a:xfrm>
            <a:off x="8503920" y="4834890"/>
            <a:ext cx="54864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200" u="none" cap="none" strike="noStrike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2"/>
          <p:cNvSpPr txBox="1"/>
          <p:nvPr/>
        </p:nvSpPr>
        <p:spPr>
          <a:xfrm>
            <a:off x="457200" y="617220"/>
            <a:ext cx="8229600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Registration &amp; Device Binding</a:t>
            </a:r>
            <a:endParaRPr b="1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1" name="Google Shape;221;p32"/>
          <p:cNvSpPr txBox="1"/>
          <p:nvPr/>
        </p:nvSpPr>
        <p:spPr>
          <a:xfrm>
            <a:off x="457200" y="1337310"/>
            <a:ext cx="4297800" cy="3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Account Registration &amp; Authentication</a:t>
            </a:r>
            <a:endParaRPr b="1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4000" lvl="0" marL="274320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▪"/>
            </a:pPr>
            <a:r>
              <a:rPr b="0" i="0" lang="en" sz="1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Two-step registration (personal details, then institution selection) with email one-time-code verification before access.</a:t>
            </a:r>
            <a:endParaRPr b="0" i="0" sz="1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4000" lvl="0" marL="27432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▪"/>
            </a:pPr>
            <a:r>
              <a:rPr b="0" i="0" lang="en" sz="1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Login issues a session token; device-binding then runs automatically.</a:t>
            </a:r>
            <a:endParaRPr b="0" i="0" sz="1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4000" lvl="0" marL="27432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▪"/>
            </a:pPr>
            <a:r>
              <a:rPr b="0" i="0" lang="en" sz="1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Unverified accounts were correctly prevented from signing in, consistently across all devices tested.</a:t>
            </a:r>
            <a:endParaRPr b="0" i="0" sz="1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image4.jpeg" id="222" name="Google Shape;22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83075" y="1527349"/>
            <a:ext cx="1144301" cy="2482550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image6.jpeg" id="223" name="Google Shape;223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57954" y="1527349"/>
            <a:ext cx="1144301" cy="2482586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image5.jpeg" id="224" name="Google Shape;224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08090" y="1564550"/>
            <a:ext cx="1100825" cy="2388221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25" name="Google Shape;225;p32"/>
          <p:cNvSpPr txBox="1"/>
          <p:nvPr/>
        </p:nvSpPr>
        <p:spPr>
          <a:xfrm>
            <a:off x="5304931" y="4114800"/>
            <a:ext cx="4114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4.2: Registration, institution selection, and email verification flow</a:t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6" name="Google Shape;226;p32"/>
          <p:cNvSpPr txBox="1"/>
          <p:nvPr/>
        </p:nvSpPr>
        <p:spPr>
          <a:xfrm>
            <a:off x="8503920" y="4834890"/>
            <a:ext cx="54864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="0" i="0" sz="1200" u="none" cap="none" strike="noStrike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3"/>
          <p:cNvSpPr txBox="1"/>
          <p:nvPr/>
        </p:nvSpPr>
        <p:spPr>
          <a:xfrm>
            <a:off x="457200" y="617220"/>
            <a:ext cx="8229600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Device Binding</a:t>
            </a:r>
            <a:endParaRPr b="1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2" name="Google Shape;232;p33"/>
          <p:cNvSpPr txBox="1"/>
          <p:nvPr/>
        </p:nvSpPr>
        <p:spPr>
          <a:xfrm>
            <a:off x="457200" y="1268730"/>
            <a:ext cx="82296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34950" lvl="0" marL="27432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▪"/>
            </a:pPr>
            <a:r>
              <a:rPr b="0" i="0" lang="en" sz="1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first device a student uses becomes the bound device; any attempt from a second device is rejected until the binding is explicitly reset — directly addressing impersonation.</a:t>
            </a:r>
            <a:endParaRPr b="0" i="0" sz="1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3" name="Google Shape;233;p33"/>
          <p:cNvSpPr txBox="1"/>
          <p:nvPr/>
        </p:nvSpPr>
        <p:spPr>
          <a:xfrm>
            <a:off x="457200" y="2285765"/>
            <a:ext cx="8229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Table 4.1: Device Binding Test Cases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34" name="Google Shape;234;p33"/>
          <p:cNvGraphicFramePr/>
          <p:nvPr/>
        </p:nvGraphicFramePr>
        <p:xfrm>
          <a:off x="457200" y="2699220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{E7534B07-5CA3-4235-B449-0CECDCAF33C6}</a:tableStyleId>
              </a:tblPr>
              <a:tblGrid>
                <a:gridCol w="3108950"/>
                <a:gridCol w="3017525"/>
                <a:gridCol w="2103125"/>
              </a:tblGrid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11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Scenario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11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Expected Behaviour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11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Observed Result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4472C4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First login on Device A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Account bound to Device A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Bound successfully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Re-login on Device A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Access granted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Granted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Login on Device B (same account)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Access blocked (device conflict)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Blocked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Check-in without device header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Request rejected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Rejected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Reset device, then bind Device B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Old binding revoked, new device bound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Re-bound successfully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</a:tr>
            </a:tbl>
          </a:graphicData>
        </a:graphic>
      </p:graphicFrame>
      <p:sp>
        <p:nvSpPr>
          <p:cNvPr id="235" name="Google Shape;235;p33"/>
          <p:cNvSpPr txBox="1"/>
          <p:nvPr/>
        </p:nvSpPr>
        <p:spPr>
          <a:xfrm>
            <a:off x="8503920" y="4834890"/>
            <a:ext cx="54864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="0" i="0" sz="1200" u="none" cap="none" strike="noStrike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4"/>
          <p:cNvSpPr txBox="1"/>
          <p:nvPr/>
        </p:nvSpPr>
        <p:spPr>
          <a:xfrm>
            <a:off x="457200" y="617220"/>
            <a:ext cx="8229600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Geofence Accuracy Testing</a:t>
            </a:r>
            <a:endParaRPr b="1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1" name="Google Shape;241;p34"/>
          <p:cNvSpPr txBox="1"/>
          <p:nvPr/>
        </p:nvSpPr>
        <p:spPr>
          <a:xfrm>
            <a:off x="457200" y="1234440"/>
            <a:ext cx="521208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27432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▪"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50 m circular geofence was configured; attempts ranged from venue centre to well outside. The system made the correct admission decision in all trials; only points within a few metres of the boundary are GPS-sensitive.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2" name="Google Shape;242;p34"/>
          <p:cNvSpPr txBox="1"/>
          <p:nvPr/>
        </p:nvSpPr>
        <p:spPr>
          <a:xfrm>
            <a:off x="365760" y="2309283"/>
            <a:ext cx="5394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Table 4.2: Geofence Positioning &amp; Boundary Decision (50 m radius)</a:t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43" name="Google Shape;243;p34"/>
          <p:cNvGraphicFramePr/>
          <p:nvPr/>
        </p:nvGraphicFramePr>
        <p:xfrm>
          <a:off x="365760" y="2710980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{E7534B07-5CA3-4235-B449-0CECDCAF33C6}</a:tableStyleId>
              </a:tblPr>
              <a:tblGrid>
                <a:gridCol w="1737350"/>
                <a:gridCol w="914400"/>
                <a:gridCol w="868675"/>
                <a:gridCol w="685800"/>
                <a:gridCol w="548650"/>
                <a:gridCol w="1005850"/>
              </a:tblGrid>
              <a:tr h="3154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9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Test Point</a:t>
                      </a:r>
                      <a:endParaRPr b="1" i="0" sz="9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9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Actual (m)</a:t>
                      </a:r>
                      <a:endParaRPr b="1" i="0" sz="9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9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App (m)</a:t>
                      </a:r>
                      <a:endParaRPr b="1" i="0" sz="9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9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GPS ±</a:t>
                      </a:r>
                      <a:endParaRPr b="1" i="0" sz="9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9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In?</a:t>
                      </a:r>
                      <a:endParaRPr b="1" i="0" sz="9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9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Decision</a:t>
                      </a:r>
                      <a:endParaRPr b="1" i="0" sz="9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4472C4"/>
                    </a:solidFill>
                  </a:tcPr>
                </a:tc>
              </a:tr>
              <a:tr h="315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9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Inside – near centre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9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9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8.1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9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±5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9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9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Granted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</a:tr>
              <a:tr h="315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9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Inside – mid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9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22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9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24.7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9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±6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9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9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Granted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</a:tr>
              <a:tr h="315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9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Inside – near edge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9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44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9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46.9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9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±8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9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9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Granted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</a:tr>
              <a:tr h="315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9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Just outside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9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58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9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55.3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9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±9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9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9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Denied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</a:tr>
              <a:tr h="315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9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Clearly outside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9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120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9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118.4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9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±7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9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9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Denied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</a:tr>
              <a:tr h="315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9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Far (e.g. hostel)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9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410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9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406.2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9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±10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9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9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Denied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descr="image10.jpeg" id="244" name="Google Shape;24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73364" y="470925"/>
            <a:ext cx="1751425" cy="3799699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45" name="Google Shape;245;p34"/>
          <p:cNvSpPr txBox="1"/>
          <p:nvPr/>
        </p:nvSpPr>
        <p:spPr>
          <a:xfrm>
            <a:off x="5948868" y="4270634"/>
            <a:ext cx="32004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4.4: Check-in map with geofence boundary and live position</a:t>
            </a:r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6" name="Google Shape;246;p34"/>
          <p:cNvSpPr txBox="1"/>
          <p:nvPr/>
        </p:nvSpPr>
        <p:spPr>
          <a:xfrm>
            <a:off x="8503920" y="4834890"/>
            <a:ext cx="54864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b="0" i="0" sz="1200" u="none" cap="none" strike="noStrike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5"/>
          <p:cNvSpPr txBox="1"/>
          <p:nvPr/>
        </p:nvSpPr>
        <p:spPr>
          <a:xfrm>
            <a:off x="457200" y="617220"/>
            <a:ext cx="8229600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Face Verification Testing</a:t>
            </a:r>
            <a:endParaRPr b="1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2" name="Google Shape;252;p35"/>
          <p:cNvSpPr txBox="1"/>
          <p:nvPr/>
        </p:nvSpPr>
        <p:spPr>
          <a:xfrm>
            <a:off x="365760" y="1220724"/>
            <a:ext cx="539496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27432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▪"/>
            </a:pPr>
            <a:r>
              <a:rPr b="0" i="0" lang="en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live selfie is compared with the enrolled reference and accepted only when similarity exceeds the threshold (70%). Genuine students verified reliably; impostors rejected. Poor lighting / extreme angles can cause occasional false rejection.</a:t>
            </a:r>
            <a:endParaRPr b="0" i="0" sz="13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3" name="Google Shape;253;p35"/>
          <p:cNvSpPr txBox="1"/>
          <p:nvPr/>
        </p:nvSpPr>
        <p:spPr>
          <a:xfrm>
            <a:off x="365760" y="1954530"/>
            <a:ext cx="5486400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Table 4.3: Face Verification Performance</a:t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54" name="Google Shape;254;p35"/>
          <p:cNvGraphicFramePr/>
          <p:nvPr/>
        </p:nvGraphicFramePr>
        <p:xfrm>
          <a:off x="365760" y="2263140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{E7534B07-5CA3-4235-B449-0CECDCAF33C6}</a:tableStyleId>
              </a:tblPr>
              <a:tblGrid>
                <a:gridCol w="1828800"/>
                <a:gridCol w="960125"/>
                <a:gridCol w="731525"/>
                <a:gridCol w="685800"/>
                <a:gridCol w="1005850"/>
                <a:gridCol w="1005850"/>
              </a:tblGrid>
              <a:tr h="246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Condition</a:t>
                      </a:r>
                      <a:endParaRPr b="1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Subject</a:t>
                      </a:r>
                      <a:endParaRPr b="1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Sim. %</a:t>
                      </a:r>
                      <a:endParaRPr b="1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Thr. %</a:t>
                      </a:r>
                      <a:endParaRPr b="1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Decision</a:t>
                      </a:r>
                      <a:endParaRPr b="1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Correct?</a:t>
                      </a:r>
                      <a:endParaRPr b="1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4472C4"/>
                    </a:solidFill>
                  </a:tcPr>
                </a:tc>
              </a:tr>
              <a:tr h="246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Good lighting, frontal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Genuine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80.4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70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Verified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</a:tr>
              <a:tr h="246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Indoor moderate light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Genuine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78.7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70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Verified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</a:tr>
              <a:tr h="246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Low light / poor angle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Genuine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73.2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70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Rejected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 (FR)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</a:tr>
              <a:tr h="246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Slight side angle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Genuine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76.6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70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Verified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</a:tr>
              <a:tr h="246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Different person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Impostor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43.8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70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Rejected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</a:tr>
              <a:tr h="246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Different person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Impostor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51.0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70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Rejected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</a:tr>
              <a:tr h="246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Photo on screen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Spoof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57.5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70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Rejected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</a:tr>
              <a:tr h="246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Photo on screen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Impostor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72.1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70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Verified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 (FA)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descr="image15.jpeg" id="255" name="Google Shape;255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77977" y="1165860"/>
            <a:ext cx="1264444" cy="2743200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56" name="Google Shape;256;p35"/>
          <p:cNvSpPr txBox="1"/>
          <p:nvPr/>
        </p:nvSpPr>
        <p:spPr>
          <a:xfrm>
            <a:off x="5943600" y="3977640"/>
            <a:ext cx="3017520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4.5: Facial verification capture</a:t>
            </a:r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7" name="Google Shape;257;p35"/>
          <p:cNvSpPr txBox="1"/>
          <p:nvPr/>
        </p:nvSpPr>
        <p:spPr>
          <a:xfrm>
            <a:off x="8503920" y="4834890"/>
            <a:ext cx="54864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 b="0" i="0" sz="1200" u="none" cap="none" strike="noStrike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photo_2026-06-14_18-09-09" id="258" name="Google Shape;258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77660" y="1165860"/>
            <a:ext cx="1295400" cy="28117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6"/>
          <p:cNvSpPr txBox="1"/>
          <p:nvPr/>
        </p:nvSpPr>
        <p:spPr>
          <a:xfrm>
            <a:off x="457200" y="617220"/>
            <a:ext cx="8229600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Attendance Check-in Decision</a:t>
            </a:r>
            <a:endParaRPr b="1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4" name="Google Shape;264;p36"/>
          <p:cNvSpPr txBox="1"/>
          <p:nvPr/>
        </p:nvSpPr>
        <p:spPr>
          <a:xfrm>
            <a:off x="365760" y="1220724"/>
            <a:ext cx="53949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27432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▪"/>
            </a:pPr>
            <a:r>
              <a:rPr b="0" i="0" lang="en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full decision combines bound device, location inside the venue, a verified face, and the timing rule (present vs late). Attendance is granted only when every condition is met; refusals give a clear, specific reason.</a:t>
            </a:r>
            <a:endParaRPr b="0" i="0" sz="13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5" name="Google Shape;265;p36"/>
          <p:cNvSpPr txBox="1"/>
          <p:nvPr/>
        </p:nvSpPr>
        <p:spPr>
          <a:xfrm>
            <a:off x="365760" y="1920240"/>
            <a:ext cx="5577840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Table 4.4: Attendance Check-in Decision Across Scenarios</a:t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66" name="Google Shape;266;p36"/>
          <p:cNvGraphicFramePr/>
          <p:nvPr/>
        </p:nvGraphicFramePr>
        <p:xfrm>
          <a:off x="365760" y="2228850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{E7534B07-5CA3-4235-B449-0CECDCAF33C6}</a:tableStyleId>
              </a:tblPr>
              <a:tblGrid>
                <a:gridCol w="868675"/>
                <a:gridCol w="1188725"/>
                <a:gridCol w="1051550"/>
                <a:gridCol w="1325875"/>
                <a:gridCol w="1463050"/>
              </a:tblGrid>
              <a:tr h="3017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9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Device</a:t>
                      </a:r>
                      <a:endParaRPr b="1" i="0" sz="9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9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Location</a:t>
                      </a:r>
                      <a:endParaRPr b="1" i="0" sz="9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9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Face</a:t>
                      </a:r>
                      <a:endParaRPr b="1" i="0" sz="9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9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Timing</a:t>
                      </a:r>
                      <a:endParaRPr b="1" i="0" sz="9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9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System Result</a:t>
                      </a:r>
                      <a:endParaRPr b="1" i="0" sz="9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4472C4"/>
                    </a:solidFill>
                  </a:tcPr>
                </a:tc>
              </a:tr>
              <a:tr h="301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Bound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Inside fence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Verified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On-time window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Marked PRESENT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</a:tr>
              <a:tr h="301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Bound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Inside fence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Verified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After late threshold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Marked LATE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</a:tr>
              <a:tr h="301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Bound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Outside fence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–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Within window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Rejected: not in venue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</a:tr>
              <a:tr h="301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Bound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Inside fence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Not verified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Within window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Rejected: face failed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</a:tr>
              <a:tr h="301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Unbound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Inside fence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Verified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Within window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Rejected: device not bound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</a:tr>
              <a:tr h="301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Bound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Inside fence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Verified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Session closed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Rejected: session inactive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7" name="Google Shape;267;p36"/>
          <p:cNvSpPr txBox="1"/>
          <p:nvPr/>
        </p:nvSpPr>
        <p:spPr>
          <a:xfrm>
            <a:off x="6035040" y="4306899"/>
            <a:ext cx="29262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4.6: Successful check-in confirmation</a:t>
            </a:r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8" name="Google Shape;268;p36"/>
          <p:cNvSpPr txBox="1"/>
          <p:nvPr/>
        </p:nvSpPr>
        <p:spPr>
          <a:xfrm>
            <a:off x="8503920" y="4834890"/>
            <a:ext cx="54864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 b="0" i="0" sz="1200" u="none" cap="none" strike="noStrike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photo_2026-06-14_18-03-09" id="269" name="Google Shape;269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14076" y="942325"/>
            <a:ext cx="1523250" cy="3305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7"/>
          <p:cNvSpPr txBox="1"/>
          <p:nvPr/>
        </p:nvSpPr>
        <p:spPr>
          <a:xfrm>
            <a:off x="457200" y="617220"/>
            <a:ext cx="8229600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Attendance Window &amp; Presence Checks</a:t>
            </a:r>
            <a:endParaRPr b="1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5" name="Google Shape;275;p37"/>
          <p:cNvSpPr txBox="1"/>
          <p:nvPr/>
        </p:nvSpPr>
        <p:spPr>
          <a:xfrm>
            <a:off x="457200" y="1303020"/>
            <a:ext cx="822960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27432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▪"/>
            </a:pPr>
            <a:r>
              <a:rPr b="0" i="0" lang="e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Sessions became active only within their scheduled day and time window — attempts before opening or after closing were rejected.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74320" marR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▪"/>
            </a:pPr>
            <a:r>
              <a:rPr b="0" i="0" lang="e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During an active session, the backend issued presence checks at randomised intervals to students who had already checked in.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74320" marR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▪"/>
            </a:pPr>
            <a:r>
              <a:rPr b="0" i="0" lang="e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Students who responded from inside the venue kept their "present-throughout" status, while a student who had left failed the presence check.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74320" marR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▪"/>
            </a:pPr>
            <a:r>
              <a:rPr b="0" i="0" lang="e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confirms that continuous presence — not just an initial sign-in — is required, satisfying the in-lecture verification objective.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6" name="Google Shape;276;p37"/>
          <p:cNvSpPr txBox="1"/>
          <p:nvPr/>
        </p:nvSpPr>
        <p:spPr>
          <a:xfrm>
            <a:off x="8503920" y="4834890"/>
            <a:ext cx="54864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endParaRPr b="0" i="0" sz="1200" u="none" cap="none" strike="noStrike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8"/>
          <p:cNvSpPr txBox="1"/>
          <p:nvPr/>
        </p:nvSpPr>
        <p:spPr>
          <a:xfrm>
            <a:off x="457200" y="617220"/>
            <a:ext cx="8229600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Notification Delivery</a:t>
            </a:r>
            <a:endParaRPr b="1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38"/>
          <p:cNvSpPr txBox="1"/>
          <p:nvPr/>
        </p:nvSpPr>
        <p:spPr>
          <a:xfrm>
            <a:off x="457200" y="1337310"/>
            <a:ext cx="5120700" cy="34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41300" lvl="0" marL="27432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▪"/>
            </a:pPr>
            <a:r>
              <a:rPr b="0" i="0" lang="e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Shortly before a scheduled class, a push notification was dispatched to enrolled students and the lecturer, with an email reminder to those who enabled it.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41300" lvl="0" marL="27432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▪"/>
            </a:pPr>
            <a:r>
              <a:rPr b="0" i="0" lang="e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Delivery was prompt: push notifications arrived within a few seconds, and emails within roughly ten seconds, subject to network conditions.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41300" lvl="0" marL="27432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▪"/>
            </a:pPr>
            <a:r>
              <a:rPr b="0" i="0" lang="e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notification preferences were respected — disabling a channel suppressed messages on it — and reminders were sent only once per class per day.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3" name="Google Shape;283;p38"/>
          <p:cNvSpPr txBox="1"/>
          <p:nvPr/>
        </p:nvSpPr>
        <p:spPr>
          <a:xfrm>
            <a:off x="5669280" y="4494060"/>
            <a:ext cx="32004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4.8: Class-reminder notification</a:t>
            </a:r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4" name="Google Shape;284;p38"/>
          <p:cNvSpPr txBox="1"/>
          <p:nvPr/>
        </p:nvSpPr>
        <p:spPr>
          <a:xfrm>
            <a:off x="8503920" y="4834890"/>
            <a:ext cx="54864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 b="0" i="0" sz="1200" u="none" cap="none" strike="noStrike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photo_2026-06-14_18-03-09" id="285" name="Google Shape;285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6824" y="778201"/>
            <a:ext cx="1712299" cy="371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9"/>
          <p:cNvSpPr txBox="1"/>
          <p:nvPr/>
        </p:nvSpPr>
        <p:spPr>
          <a:xfrm>
            <a:off x="457200" y="617220"/>
            <a:ext cx="8229600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Lecturer Dashboard &amp; Analytics</a:t>
            </a:r>
            <a:endParaRPr b="1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1" name="Google Shape;291;p39"/>
          <p:cNvSpPr txBox="1"/>
          <p:nvPr/>
        </p:nvSpPr>
        <p:spPr>
          <a:xfrm>
            <a:off x="457200" y="1337310"/>
            <a:ext cx="4297800" cy="3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54000" lvl="0" marL="27432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▪"/>
            </a:pPr>
            <a:r>
              <a:rPr b="0" i="0" lang="en" sz="1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Enrolled-student lists and attendance figures updated in real time without manual refresh.</a:t>
            </a:r>
            <a:endParaRPr b="0" i="0" sz="1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4000" lvl="0" marL="27432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▪"/>
            </a:pPr>
            <a:r>
              <a:rPr b="0" i="0" lang="en" sz="1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Per-student analytics computed attendance rate, punctuality, and session history directly from recorded data.</a:t>
            </a:r>
            <a:endParaRPr b="0" i="0" sz="1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4000" lvl="0" marL="27432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▪"/>
            </a:pPr>
            <a:r>
              <a:rPr b="0" i="0" lang="en" sz="1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Administrative actions — creating classes, assigning lecturers, sharing invite links, editing schedules — all reflected correctly.</a:t>
            </a:r>
            <a:endParaRPr b="0" i="0" sz="1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image16.jpeg" id="292" name="Google Shape;292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92040" y="1527358"/>
            <a:ext cx="994410" cy="2157364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image17.jpeg" id="293" name="Google Shape;293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55080" y="1527358"/>
            <a:ext cx="994410" cy="2157364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image18.jpeg" id="294" name="Google Shape;294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72400" y="1564553"/>
            <a:ext cx="960120" cy="2082972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95" name="Google Shape;295;p39"/>
          <p:cNvSpPr txBox="1"/>
          <p:nvPr/>
        </p:nvSpPr>
        <p:spPr>
          <a:xfrm>
            <a:off x="4846320" y="4114800"/>
            <a:ext cx="4114800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4.9: Per-student attendance analytics and reporting view</a:t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6" name="Google Shape;296;p39"/>
          <p:cNvSpPr txBox="1"/>
          <p:nvPr/>
        </p:nvSpPr>
        <p:spPr>
          <a:xfrm>
            <a:off x="8503920" y="4834890"/>
            <a:ext cx="54864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r>
            <a:endParaRPr b="0" i="0" sz="1200" u="none" cap="none" strike="noStrike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0"/>
          <p:cNvSpPr txBox="1"/>
          <p:nvPr/>
        </p:nvSpPr>
        <p:spPr>
          <a:xfrm>
            <a:off x="457200" y="617220"/>
            <a:ext cx="8229600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Long-Duration &amp; Load Testing</a:t>
            </a:r>
            <a:endParaRPr b="1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2" name="Google Shape;302;p40"/>
          <p:cNvSpPr txBox="1"/>
          <p:nvPr/>
        </p:nvSpPr>
        <p:spPr>
          <a:xfrm>
            <a:off x="457200" y="1303020"/>
            <a:ext cx="822960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27432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▪"/>
            </a:pPr>
            <a:r>
              <a:rPr b="0" i="0" lang="e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 an extended monitoring period the backend served requests without unexpected restarts, data loss, or session corruption.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74320" marR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▪"/>
            </a:pPr>
            <a:r>
              <a:rPr b="0" i="0" lang="e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Scheduled tasks — opening due sessions, issuing presence checks, and sending reminders — ran on time.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74320" marR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▪"/>
            </a:pPr>
            <a:r>
              <a:rPr b="0" i="0" lang="e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 a concurrent-user test simulating multiple students checking in at once, the API stayed responsive and returned correct, isolated results for each user.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74320" marR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▪"/>
            </a:pPr>
            <a:r>
              <a:rPr b="0" i="0" lang="e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false attendance was recorded under normal conditions, confirming suitability for a real lecture setting.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3" name="Google Shape;303;p40"/>
          <p:cNvSpPr txBox="1"/>
          <p:nvPr/>
        </p:nvSpPr>
        <p:spPr>
          <a:xfrm>
            <a:off x="8503920" y="4834890"/>
            <a:ext cx="54864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r>
            <a:endParaRPr b="0" i="0" sz="1200" u="none" cap="none" strike="noStrike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1"/>
          <p:cNvSpPr txBox="1"/>
          <p:nvPr/>
        </p:nvSpPr>
        <p:spPr>
          <a:xfrm>
            <a:off x="457200" y="617220"/>
            <a:ext cx="8229600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Performance Summary</a:t>
            </a:r>
            <a:endParaRPr b="1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9" name="Google Shape;309;p41"/>
          <p:cNvSpPr txBox="1"/>
          <p:nvPr/>
        </p:nvSpPr>
        <p:spPr>
          <a:xfrm>
            <a:off x="457200" y="1268730"/>
            <a:ext cx="8229600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Table 4.5: System Performance Summary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310" name="Google Shape;310;p41"/>
          <p:cNvGraphicFramePr/>
          <p:nvPr/>
        </p:nvGraphicFramePr>
        <p:xfrm>
          <a:off x="457200" y="1752755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{E7534B07-5CA3-4235-B449-0CECDCAF33C6}</a:tableStyleId>
              </a:tblPr>
              <a:tblGrid>
                <a:gridCol w="4937750"/>
                <a:gridCol w="3291850"/>
              </a:tblGrid>
              <a:tr h="2743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11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Performance Metric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11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Achieved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4472C4"/>
                    </a:solidFill>
                  </a:tcPr>
                </a:tc>
              </a:tr>
              <a:tr h="27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1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Average check-in response time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≈ 3.6 s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</a:tr>
              <a:tr h="27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1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Geofence admission decision accuracy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100% (outside GPS-margin zone)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</a:tr>
              <a:tr h="27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Face verification accuracy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≈ 70%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</a:tr>
              <a:tr h="27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Device-binding enforcement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100%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</a:tr>
              <a:tr h="27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Push notification delivery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&lt; 5 s avg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</a:tr>
              <a:tr h="27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Email reminder delivery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≈ 10 s avg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</a:tr>
              <a:tr h="27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Impersonation attempts blocked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70%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</a:tr>
              <a:tr h="27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Location-spoofing attempts blocked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70%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</a:tr>
              <a:tr h="27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Concurrent users tested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D9E1F2"/>
                    </a:solidFill>
                  </a:tcPr>
                </a:tc>
              </a:tr>
              <a:tr h="480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Backend availability during testing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3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≈ 80.8%</a:t>
                      </a:r>
                      <a:endParaRPr b="0" i="0" sz="13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54875" marL="548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1" name="Google Shape;311;p41"/>
          <p:cNvSpPr txBox="1"/>
          <p:nvPr/>
        </p:nvSpPr>
        <p:spPr>
          <a:xfrm>
            <a:off x="8503920" y="4834890"/>
            <a:ext cx="54864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</a:t>
            </a:r>
            <a:endParaRPr b="0" i="0" sz="1200" u="none" cap="none" strike="noStrike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2"/>
          <p:cNvSpPr txBox="1"/>
          <p:nvPr/>
        </p:nvSpPr>
        <p:spPr>
          <a:xfrm>
            <a:off x="457200" y="617220"/>
            <a:ext cx="8229600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Discussion</a:t>
            </a:r>
            <a:endParaRPr b="1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7" name="Google Shape;317;p42"/>
          <p:cNvSpPr txBox="1"/>
          <p:nvPr/>
        </p:nvSpPr>
        <p:spPr>
          <a:xfrm>
            <a:off x="457200" y="1208946"/>
            <a:ext cx="8229600" cy="36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41300" lvl="0" marL="27432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▪"/>
            </a:pPr>
            <a:r>
              <a:rPr b="0" i="0" lang="e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operated effectively under both legitimate and fraudulent conditions — present students verified and recorded quickly, with records propagating instantly to the lecturer’s dashboard.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41300" lvl="0" marL="27432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▪"/>
            </a:pPr>
            <a:r>
              <a:rPr b="0" i="0" lang="e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Simulated fraud was blocked exactly as intended: outside-venue check-ins by the geofence, impersonation by facial verification, and second-phone attempts by device binding.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41300" lvl="0" marL="27432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▪"/>
            </a:pPr>
            <a:r>
              <a:rPr b="0" i="0" lang="e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strength lies in combining three independent checks — location, identity, and device must agree simultaneously — plus a timed window with randomised presence checks.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41300" lvl="0" marL="27432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▪"/>
            </a:pPr>
            <a:r>
              <a:rPr b="0" i="0" lang="e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 limitations were inherent to the mobile technologies: GPS uncertainty at boundary edges and reduced face confidence under poor lighting or extreme angles.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8" name="Google Shape;318;p42"/>
          <p:cNvSpPr txBox="1"/>
          <p:nvPr/>
        </p:nvSpPr>
        <p:spPr>
          <a:xfrm>
            <a:off x="8503920" y="4834890"/>
            <a:ext cx="54864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</a:t>
            </a:r>
            <a:endParaRPr b="0" i="0" sz="1200" u="none" cap="none" strike="noStrike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3"/>
          <p:cNvSpPr txBox="1"/>
          <p:nvPr/>
        </p:nvSpPr>
        <p:spPr>
          <a:xfrm>
            <a:off x="457200" y="617220"/>
            <a:ext cx="8229600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Summary</a:t>
            </a:r>
            <a:endParaRPr b="1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4" name="Google Shape;324;p43"/>
          <p:cNvSpPr txBox="1"/>
          <p:nvPr/>
        </p:nvSpPr>
        <p:spPr>
          <a:xfrm>
            <a:off x="457200" y="1138390"/>
            <a:ext cx="8229600" cy="39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54000" lvl="0" marL="27432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▪"/>
            </a:pPr>
            <a:r>
              <a:rPr b="0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GeoTrack was designed, implemented, and evaluated to tackle impersonation, location fraud, and the "sign-and-leave" problem in university attendance.</a:t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4000" lvl="0" marL="27432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▪"/>
            </a:pPr>
            <a:r>
              <a:rPr b="0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Built as a three-tier solution — React Native mobile app, Laravel RESTful backend, and a relational database — communicating securely over HTTPS.</a:t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4000" lvl="0" marL="27432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▪"/>
            </a:pPr>
            <a:r>
              <a:rPr b="0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Control logic combined four mechanisms: device binding, GPS geofencing, facial verification, and a lecturer-controlled timed window with randomised presence checks.</a:t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4000" lvl="0" marL="27432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▪"/>
            </a:pPr>
            <a:r>
              <a:rPr b="0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Evaluation confirmed accurate location and facial verification, full device-binding enforcement, correct on-time/late classification, prompt notifications, and stable operation with no false attendance.</a:t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5" name="Google Shape;325;p43"/>
          <p:cNvSpPr txBox="1"/>
          <p:nvPr/>
        </p:nvSpPr>
        <p:spPr>
          <a:xfrm>
            <a:off x="8503920" y="4834890"/>
            <a:ext cx="54864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endParaRPr b="0" i="0" sz="1200" u="none" cap="none" strike="noStrike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4"/>
          <p:cNvSpPr txBox="1"/>
          <p:nvPr/>
        </p:nvSpPr>
        <p:spPr>
          <a:xfrm>
            <a:off x="457200" y="617220"/>
            <a:ext cx="8229600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b="1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1" name="Google Shape;331;p44"/>
          <p:cNvSpPr txBox="1"/>
          <p:nvPr/>
        </p:nvSpPr>
        <p:spPr>
          <a:xfrm>
            <a:off x="457200" y="1303020"/>
            <a:ext cx="82296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54000" lvl="0" marL="27432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▪"/>
            </a:pPr>
            <a:r>
              <a:rPr b="0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captured, verified, and recorded student attendance in real time, reflecting outcomes instantly on the lecturer and administrator dashboards.</a:t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4000" lvl="0" marL="27432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▪"/>
            </a:pPr>
            <a:r>
              <a:rPr b="0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confirmed a registered device, physical presence inside the geofence, and identity via facial verification before marking present — flagging late arrivals and rejecting invalid attempts with clear reasons.</a:t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4000" lvl="0" marL="27432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▪"/>
            </a:pPr>
            <a:r>
              <a:rPr b="0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Timed windows and randomised presence checks ensured attendance reflected genuine presence throughout the lecture, while analytics produced useful reports.</a:t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4000" lvl="0" marL="27432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▪"/>
            </a:pPr>
            <a:r>
              <a:rPr b="0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stated objective was achieved, delivering a secure, cost-effective, location- and identity-verified attendance system.</a:t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2" name="Google Shape;332;p44"/>
          <p:cNvSpPr txBox="1"/>
          <p:nvPr/>
        </p:nvSpPr>
        <p:spPr>
          <a:xfrm>
            <a:off x="8503920" y="4834890"/>
            <a:ext cx="54864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</a:t>
            </a:r>
            <a:endParaRPr b="0" i="0" sz="1200" u="none" cap="none" strike="noStrike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5"/>
          <p:cNvSpPr txBox="1"/>
          <p:nvPr/>
        </p:nvSpPr>
        <p:spPr>
          <a:xfrm>
            <a:off x="457200" y="617220"/>
            <a:ext cx="8229600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Recommendations</a:t>
            </a:r>
            <a:endParaRPr b="1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8" name="Google Shape;338;p45"/>
          <p:cNvSpPr txBox="1"/>
          <p:nvPr/>
        </p:nvSpPr>
        <p:spPr>
          <a:xfrm>
            <a:off x="457200" y="1303020"/>
            <a:ext cx="8229600" cy="37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60350" lvl="0" marL="27432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▪"/>
            </a:pPr>
            <a:r>
              <a:rPr b="0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Liveness detection: anti-spoofing (blink / motion) to strengthen identity checks against printed photos and screen replays.</a:t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0350" lvl="0" marL="274320" marR="0" rtl="0" algn="just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▪"/>
            </a:pPr>
            <a:r>
              <a:rPr b="0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Hybrid positioning: augment GPS with Wi-Fi / BLE beacons to reduce boundary uncertainty in indoor halls.</a:t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0350" lvl="0" marL="274320" marR="0" rtl="0" algn="just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▪"/>
            </a:pPr>
            <a:r>
              <a:rPr b="0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Larger-scale, multi-institution deployment: evaluate scalability across many concurrent lecture halls and institutions.</a:t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0350" lvl="0" marL="274320" marR="0" rtl="0" algn="just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▪"/>
            </a:pPr>
            <a:r>
              <a:rPr b="0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Analytics &amp; early-warning: predictive flags for students at risk of falling below attendance thresholds.</a:t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0350" lvl="0" marL="274320" marR="0" rtl="0" algn="just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▪"/>
            </a:pPr>
            <a:r>
              <a:rPr b="0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Policy, privacy &amp; data-protection framework: formalise consent, retention, and secure handling of biometric and location data.</a:t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9" name="Google Shape;339;p45"/>
          <p:cNvSpPr txBox="1"/>
          <p:nvPr/>
        </p:nvSpPr>
        <p:spPr>
          <a:xfrm>
            <a:off x="8503920" y="4834890"/>
            <a:ext cx="54864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17</a:t>
            </a:r>
            <a:endParaRPr b="0" i="0" sz="1200" u="none" cap="none" strike="noStrike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6"/>
          <p:cNvSpPr txBox="1"/>
          <p:nvPr>
            <p:ph idx="4294967295" type="title"/>
          </p:nvPr>
        </p:nvSpPr>
        <p:spPr>
          <a:xfrm>
            <a:off x="535775" y="480829"/>
            <a:ext cx="51972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5" name="Google Shape;345;p46"/>
          <p:cNvSpPr txBox="1"/>
          <p:nvPr>
            <p:ph idx="4294967295" type="title"/>
          </p:nvPr>
        </p:nvSpPr>
        <p:spPr>
          <a:xfrm>
            <a:off x="535775" y="1071924"/>
            <a:ext cx="8404200" cy="40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just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b="0" lang="en" sz="2000">
                <a:solidFill>
                  <a:srgbClr val="3537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Wayahdi, M. R., and Dzikri, F. A. 2025. Integrating Facial Recognition and GPS Technology for Efficient Attendance Management in Educational Institutions. Proceeding of the International Conference on Electrical Engineering and Informatics, 1(2): 85–93. prosiding.arteii.or.id</a:t>
            </a:r>
            <a:endParaRPr b="0" sz="2000">
              <a:solidFill>
                <a:srgbClr val="3537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just">
              <a:lnSpc>
                <a:spcPct val="130000"/>
              </a:lnSpc>
              <a:spcBef>
                <a:spcPts val="1200"/>
              </a:spcBef>
              <a:spcAft>
                <a:spcPts val="1200"/>
              </a:spcAft>
              <a:buSzPts val="2000"/>
              <a:buFont typeface="Times New Roman"/>
              <a:buChar char="●"/>
            </a:pPr>
            <a:r>
              <a:rPr b="0" lang="en" sz="2000">
                <a:solidFill>
                  <a:srgbClr val="3537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Madhu B. G., Harshitha K. M., Mallika G. U., Vaibhavi B. D., and Vibha J. 2025. Mobile Based GPS Attendance System integrating GPS geofencing, BLE and facial verification. </a:t>
            </a:r>
            <a:r>
              <a:rPr b="0" i="1" lang="en" sz="2000">
                <a:solidFill>
                  <a:srgbClr val="3537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IJRaset Journal for Research in Applied Science and Engineering Technology, </a:t>
            </a:r>
            <a:r>
              <a:rPr b="0" lang="en" sz="2000">
                <a:solidFill>
                  <a:srgbClr val="3537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13(11)..3024 - 3028</a:t>
            </a:r>
            <a:r>
              <a:rPr b="0" i="1" lang="en" sz="2000">
                <a:solidFill>
                  <a:srgbClr val="3537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b="0" lang="en" sz="2000">
                <a:solidFill>
                  <a:srgbClr val="3537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https://doi.org/10.22214/ijraset.2025.75753 (ijraset.com)</a:t>
            </a:r>
            <a:endParaRPr b="0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47"/>
          <p:cNvSpPr txBox="1"/>
          <p:nvPr>
            <p:ph idx="4294967295" type="title"/>
          </p:nvPr>
        </p:nvSpPr>
        <p:spPr>
          <a:xfrm>
            <a:off x="535775" y="426400"/>
            <a:ext cx="51972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1" name="Google Shape;351;p47"/>
          <p:cNvSpPr txBox="1"/>
          <p:nvPr>
            <p:ph idx="4294967295" type="title"/>
          </p:nvPr>
        </p:nvSpPr>
        <p:spPr>
          <a:xfrm>
            <a:off x="535775" y="1112749"/>
            <a:ext cx="8499300" cy="363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just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>
                <a:srgbClr val="353744"/>
              </a:buClr>
              <a:buSzPts val="2000"/>
              <a:buFont typeface="Times New Roman"/>
              <a:buChar char="●"/>
            </a:pPr>
            <a:r>
              <a:rPr b="0" lang="en" sz="2000">
                <a:solidFill>
                  <a:srgbClr val="3537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Hemangi Patil, Omkar Darekar et al. 2025. Tick Mark: Geofencing Attendance System. </a:t>
            </a:r>
            <a:r>
              <a:rPr b="0" i="1" lang="en" sz="2000">
                <a:solidFill>
                  <a:srgbClr val="3537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IJRaset Journal for Research in Applied Science and</a:t>
            </a:r>
            <a:r>
              <a:rPr b="0" i="1" lang="en" sz="2000">
                <a:solidFill>
                  <a:srgbClr val="3537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" sz="2000">
                <a:solidFill>
                  <a:srgbClr val="3537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Engineering Technology</a:t>
            </a:r>
            <a:r>
              <a:rPr b="0" lang="en" sz="2000">
                <a:solidFill>
                  <a:srgbClr val="3537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13(4)..1269 - 1274</a:t>
            </a:r>
            <a:r>
              <a:rPr b="0" i="1" lang="en" sz="2000">
                <a:solidFill>
                  <a:srgbClr val="3537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b="0" lang="en" sz="2000">
                <a:solidFill>
                  <a:srgbClr val="3537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https://doi.org/10.22214/ijraset.2025.68524 (ijraset.com)</a:t>
            </a:r>
            <a:endParaRPr b="0" sz="2000">
              <a:solidFill>
                <a:srgbClr val="3537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just">
              <a:lnSpc>
                <a:spcPct val="130000"/>
              </a:lnSpc>
              <a:spcBef>
                <a:spcPts val="1200"/>
              </a:spcBef>
              <a:spcAft>
                <a:spcPts val="1200"/>
              </a:spcAft>
              <a:buSzPts val="2000"/>
              <a:buFont typeface="Times New Roman"/>
              <a:buChar char="●"/>
            </a:pPr>
            <a:r>
              <a:rPr b="0" lang="en" sz="2000">
                <a:solidFill>
                  <a:srgbClr val="3537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Rajamurugana, A., Rithickroshan, S., andSaneesh Kumar, V. 2025. Facial Recognition Attendance Monitoring System. IJRaset </a:t>
            </a:r>
            <a:r>
              <a:rPr b="0" i="1" lang="en" sz="2000">
                <a:solidFill>
                  <a:srgbClr val="3537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Journal for Research in Applied Science and Engineering Technology.</a:t>
            </a:r>
            <a:r>
              <a:rPr b="0" lang="en" sz="2000">
                <a:solidFill>
                  <a:srgbClr val="3537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https://doi.org/10.22214/ijraset.2025.70936 (ijraset.com)</a:t>
            </a:r>
            <a:endParaRPr b="0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2" name="Google Shape;152;p25"/>
          <p:cNvSpPr txBox="1"/>
          <p:nvPr>
            <p:ph idx="4294967295" type="title"/>
          </p:nvPr>
        </p:nvSpPr>
        <p:spPr>
          <a:xfrm>
            <a:off x="457200" y="603293"/>
            <a:ext cx="82296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200">
                <a:latin typeface="Times New Roman"/>
                <a:ea typeface="Times New Roman"/>
                <a:cs typeface="Times New Roman"/>
                <a:sym typeface="Times New Roman"/>
              </a:rPr>
              <a:t>Methodology: GPS Positioning &amp; Geofencing (I)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25"/>
          <p:cNvSpPr txBox="1"/>
          <p:nvPr>
            <p:ph idx="4294967295" type="title"/>
          </p:nvPr>
        </p:nvSpPr>
        <p:spPr>
          <a:xfrm>
            <a:off x="535775" y="1276050"/>
            <a:ext cx="8281800" cy="366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latin typeface="Times New Roman"/>
              </a:rPr>
              <a:t>A student's position P = (φₚ, λₚ) is sampled N = 5 times at the highest GNSS accuracy and averaged to suppress random satellite noise:</a:t>
            </a:r>
          </a:p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800" b="1" i="0">
                <a:latin typeface="Times New Roman"/>
              </a:rPr>
              <a:t>P̄ = ( (1/N)·Σ φᵢ ,  (1/N)·Σ λᵢ )</a:t>
            </a:r>
            <a:r>
              <a:rPr sz="1600" i="1">
                <a:solidFill>
                  <a:srgbClr val="666666"/>
                </a:solidFill>
                <a:latin typeface="Times New Roman"/>
              </a:rPr>
              <a:t>   (3.1)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latin typeface="Times New Roman"/>
              </a:rPr>
              <a:t>The great-circle distance to the venue centre uses the Haversine formula: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700" b="0" i="0">
                <a:latin typeface="Times New Roman"/>
              </a:rPr>
              <a:t>a = sin²(Δφ/2) + cos φ₁ · cos φ₂ · sin²(Δλ/2)</a:t>
            </a:r>
            <a:r>
              <a:rPr sz="1500" i="1">
                <a:solidFill>
                  <a:srgbClr val="666666"/>
                </a:solidFill>
                <a:latin typeface="Times New Roman"/>
              </a:rPr>
              <a:t>   (3.2)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700" b="0" i="0">
                <a:latin typeface="Times New Roman"/>
              </a:rPr>
              <a:t>c = 2 · atan2( √a , √(1 − a) )</a:t>
            </a:r>
            <a:r>
              <a:rPr sz="1500" i="1">
                <a:solidFill>
                  <a:srgbClr val="666666"/>
                </a:solidFill>
                <a:latin typeface="Times New Roman"/>
              </a:rPr>
              <a:t>   (3.3)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latin typeface="Times New Roman"/>
              </a:rPr>
              <a:t>d = R · c ,    R = 6 371 000 m  (mean Earth radius)</a:t>
            </a:r>
            <a:r>
              <a:rPr sz="1500" i="1">
                <a:solidFill>
                  <a:srgbClr val="666666"/>
                </a:solidFill>
                <a:latin typeface="Times New Roman"/>
              </a:rPr>
              <a:t>   (3.4)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666666"/>
                </a:solidFill>
                <a:latin typeface="Times New Roman"/>
              </a:rPr>
              <a:t>where d is the distance (m) between the student and the venue centre; φ, λ are latitude/longitude in radians.</a:t>
            </a:r>
          </a:p>
        </p:txBody>
      </p:sp>
      <p:sp>
        <p:nvSpPr>
          <p:cNvPr id="154" name="Google Shape;154;p25"/>
          <p:cNvSpPr txBox="1"/>
          <p:nvPr>
            <p:ph idx="4294967295" type="title"/>
          </p:nvPr>
        </p:nvSpPr>
        <p:spPr>
          <a:xfrm>
            <a:off x="1028100" y="49529"/>
            <a:ext cx="70878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Materials and Methods Cont’d</a:t>
            </a:r>
            <a:endParaRPr sz="3600">
              <a:solidFill>
                <a:srgbClr val="66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2" name="Google Shape;152;p25"/>
          <p:cNvSpPr txBox="1"/>
          <p:nvPr>
            <p:ph idx="4294967295" type="title"/>
          </p:nvPr>
        </p:nvSpPr>
        <p:spPr>
          <a:xfrm>
            <a:off x="457200" y="603293"/>
            <a:ext cx="82296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200">
                <a:latin typeface="Times New Roman"/>
                <a:ea typeface="Times New Roman"/>
                <a:cs typeface="Times New Roman"/>
                <a:sym typeface="Times New Roman"/>
              </a:rPr>
              <a:t>Methodology: Geofencing — Boundary Decision (II)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25"/>
          <p:cNvSpPr txBox="1"/>
          <p:nvPr>
            <p:ph idx="4294967295" type="title"/>
          </p:nvPr>
        </p:nvSpPr>
        <p:spPr>
          <a:xfrm>
            <a:off x="535775" y="1276050"/>
            <a:ext cx="8281800" cy="366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latin typeface="Times New Roman"/>
              </a:rPr>
              <a:t>Circular venue (centre C = (φ₀, λ₀), radius r): the student is admitted if and only if the Haversine distance is within the radius:</a:t>
            </a:r>
          </a:p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800" b="1" i="0">
                <a:latin typeface="Times New Roman"/>
              </a:rPr>
              <a:t>Inside  ⇔  d ≤ r</a:t>
            </a:r>
            <a:r>
              <a:rPr sz="1600" i="1">
                <a:solidFill>
                  <a:srgbClr val="666666"/>
                </a:solidFill>
                <a:latin typeface="Times New Roman"/>
              </a:rPr>
              <a:t>   (3.5)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latin typeface="Times New Roman"/>
              </a:rPr>
              <a:t>Polygon venue: the ray-casting (even–odd) rule. A horizontal ray is cast from P; for each edge (Vᵢ, Vⱼ) the crossing test is:</a:t>
            </a:r>
          </a:p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latin typeface="Times New Roman"/>
              </a:rPr>
              <a:t>(yᵢ &gt; yₚ) ≠ (yⱼ &gt; yₚ)  ∧  xₚ &lt; (xⱼ − xᵢ)(yₚ − yᵢ)/(yⱼ − yᵢ) + xᵢ</a:t>
            </a:r>
            <a:r>
              <a:rPr sz="1300" i="1">
                <a:solidFill>
                  <a:srgbClr val="666666"/>
                </a:solidFill>
                <a:latin typeface="Times New Roman"/>
              </a:rPr>
              <a:t>   (3.6)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latin typeface="Times New Roman"/>
              </a:rPr>
              <a:t>An ODD number of edge crossings ⇒ the point lies inside the boundary.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666666"/>
                </a:solidFill>
                <a:latin typeface="Times New Roman"/>
              </a:rPr>
              <a:t>where (x, y) = (longitude, latitude); the reported GNSS accuracy is stored with each record so near-boundary decisions can be audited.</a:t>
            </a:r>
          </a:p>
        </p:txBody>
      </p:sp>
      <p:sp>
        <p:nvSpPr>
          <p:cNvPr id="154" name="Google Shape;154;p25"/>
          <p:cNvSpPr txBox="1"/>
          <p:nvPr>
            <p:ph idx="4294967295" type="title"/>
          </p:nvPr>
        </p:nvSpPr>
        <p:spPr>
          <a:xfrm>
            <a:off x="1028100" y="49529"/>
            <a:ext cx="70878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Materials and Methods Cont’d</a:t>
            </a:r>
            <a:endParaRPr sz="3600">
              <a:solidFill>
                <a:srgbClr val="66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2" name="Google Shape;152;p25"/>
          <p:cNvSpPr txBox="1"/>
          <p:nvPr>
            <p:ph idx="4294967295" type="title"/>
          </p:nvPr>
        </p:nvSpPr>
        <p:spPr>
          <a:xfrm>
            <a:off x="457200" y="603293"/>
            <a:ext cx="82296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200">
                <a:latin typeface="Times New Roman"/>
                <a:ea typeface="Times New Roman"/>
                <a:cs typeface="Times New Roman"/>
                <a:sym typeface="Times New Roman"/>
              </a:rPr>
              <a:t>Methodology: Biometric (Face) Verification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25"/>
          <p:cNvSpPr txBox="1"/>
          <p:nvPr>
            <p:ph idx="4294967295" type="title"/>
          </p:nvPr>
        </p:nvSpPr>
        <p:spPr>
          <a:xfrm>
            <a:off x="535775" y="1276050"/>
            <a:ext cx="8281800" cy="366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latin typeface="Times New Roman"/>
              </a:rPr>
              <a:t>A live selfie is reduced to a descriptor and compared with the student's enrolled reference face.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latin typeface="Times New Roman"/>
              </a:rPr>
              <a:t>(a)  On-device perceptual-hash matcher: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latin typeface="Times New Roman"/>
              </a:rPr>
              <a:t>Y = 0.299R + 0.587G + 0.114B        (grayscale luminance)</a:t>
            </a:r>
            <a:r>
              <a:rPr sz="1300" i="1">
                <a:solidFill>
                  <a:srgbClr val="666666"/>
                </a:solidFill>
                <a:latin typeface="Times New Roman"/>
              </a:rPr>
              <a:t>   (3.7)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latin typeface="Times New Roman"/>
              </a:rPr>
              <a:t>μ = (1/N²)·Σ Yᵢ ;    bᵢ = 1 if Yᵢ ≥ μ, else 0     (256-bit hash)</a:t>
            </a:r>
            <a:r>
              <a:rPr sz="1300" i="1">
                <a:solidFill>
                  <a:srgbClr val="666666"/>
                </a:solidFill>
                <a:latin typeface="Times New Roman"/>
              </a:rPr>
              <a:t>   (3.8)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latin typeface="Times New Roman"/>
              </a:rPr>
              <a:t>D(Hᵣ, Hₗ) = Σ (bᵣ,ᵢ ⊕ bₗ,ᵢ) ;   Confidence = 100·(1 − D/256) %</a:t>
            </a:r>
            <a:r>
              <a:rPr sz="1300" i="1">
                <a:solidFill>
                  <a:srgbClr val="666666"/>
                </a:solidFill>
                <a:latin typeface="Times New Roman"/>
              </a:rPr>
              <a:t>   (3.9)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latin typeface="Times New Roman"/>
              </a:rPr>
              <a:t>(b)  Deep-CNN matcher (AWS Rekognition embeddings f ∈ ℝⁿ):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latin typeface="Times New Roman"/>
              </a:rPr>
              <a:t>S(fᵣ, fₗ) = (fᵣ · fₗ) / (‖fᵣ‖ ‖fₗ‖)        (cosine similarity)</a:t>
            </a:r>
            <a:r>
              <a:rPr sz="1300" i="1">
                <a:solidFill>
                  <a:srgbClr val="666666"/>
                </a:solidFill>
                <a:latin typeface="Times New Roman"/>
              </a:rPr>
              <a:t>   (3.10)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latin typeface="Times New Roman"/>
              </a:rPr>
              <a:t>Verified  ⇔  S × 100 ≥ T        (acceptance threshold T = 70%)</a:t>
            </a:r>
            <a:r>
              <a:rPr sz="1300" i="1">
                <a:solidFill>
                  <a:srgbClr val="666666"/>
                </a:solidFill>
                <a:latin typeface="Times New Roman"/>
              </a:rPr>
              <a:t>   (3.11)</a:t>
            </a:r>
          </a:p>
        </p:txBody>
      </p:sp>
      <p:sp>
        <p:nvSpPr>
          <p:cNvPr id="154" name="Google Shape;154;p25"/>
          <p:cNvSpPr txBox="1"/>
          <p:nvPr>
            <p:ph idx="4294967295" type="title"/>
          </p:nvPr>
        </p:nvSpPr>
        <p:spPr>
          <a:xfrm>
            <a:off x="1028100" y="49529"/>
            <a:ext cx="70878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Materials and Methods Cont’d</a:t>
            </a:r>
            <a:endParaRPr sz="3600">
              <a:solidFill>
                <a:srgbClr val="66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2" name="Google Shape;152;p25"/>
          <p:cNvSpPr txBox="1"/>
          <p:nvPr>
            <p:ph idx="4294967295" type="title"/>
          </p:nvPr>
        </p:nvSpPr>
        <p:spPr>
          <a:xfrm>
            <a:off x="457200" y="603293"/>
            <a:ext cx="82296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200">
                <a:latin typeface="Times New Roman"/>
                <a:ea typeface="Times New Roman"/>
                <a:cs typeface="Times New Roman"/>
                <a:sym typeface="Times New Roman"/>
              </a:rPr>
              <a:t>Methodology: Binding, Timing &amp; Composite Decision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25"/>
          <p:cNvSpPr txBox="1"/>
          <p:nvPr>
            <p:ph idx="4294967295" type="title"/>
          </p:nvPr>
        </p:nvSpPr>
        <p:spPr>
          <a:xfrm>
            <a:off x="535775" y="1276050"/>
            <a:ext cx="8281800" cy="366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latin typeface="Times New Roman"/>
              </a:rPr>
              <a:t>Device binding (one account ↔ one phone) — every sensitive request must carry the bound device fingerprint: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latin typeface="Times New Roman"/>
              </a:rPr>
              <a:t>Allow  ⇔  Uᵣₑǫ = Uᵇₒᵤₙᵈ  ∧  revoked_at = NULL</a:t>
            </a:r>
            <a:r>
              <a:rPr sz="1400" i="1">
                <a:solidFill>
                  <a:srgbClr val="666666"/>
                </a:solidFill>
                <a:latin typeface="Times New Roman"/>
              </a:rPr>
              <a:t>   (3.12)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latin typeface="Times New Roman"/>
              </a:rPr>
              <a:t>Lateness and status inside the active window [tₛ, tₑ]: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latin typeface="Times New Roman"/>
              </a:rPr>
              <a:t>m = t − tₛ ;    Status = PRESENT if m ≤ τ, else LATE</a:t>
            </a:r>
            <a:r>
              <a:rPr sz="1400" i="1">
                <a:solidFill>
                  <a:srgbClr val="666666"/>
                </a:solidFill>
                <a:latin typeface="Times New Roman"/>
              </a:rPr>
              <a:t>   (3.13)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latin typeface="Times New Roman"/>
              </a:rPr>
              <a:t>Continuous presence (randomised checks every interval I); a record is valid throughout when no check is missed: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latin typeface="Times New Roman"/>
              </a:rPr>
              <a:t>PresentThroughout  ⇔  M = 0</a:t>
            </a:r>
            <a:r>
              <a:rPr sz="1400" i="1">
                <a:solidFill>
                  <a:srgbClr val="666666"/>
                </a:solidFill>
                <a:latin typeface="Times New Roman"/>
              </a:rPr>
              <a:t>   (3.14)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latin typeface="Times New Roman"/>
              </a:rPr>
              <a:t>Final decision — all gates must hold simultaneously: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latin typeface="Times New Roman"/>
              </a:rPr>
              <a:t>Granted = B ∧ G ∧ F ∧ W</a:t>
            </a:r>
            <a:r>
              <a:rPr sz="1600" i="1">
                <a:solidFill>
                  <a:srgbClr val="666666"/>
                </a:solidFill>
                <a:latin typeface="Times New Roman"/>
              </a:rPr>
              <a:t>   (3.15)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666666"/>
                </a:solidFill>
                <a:latin typeface="Times New Roman"/>
              </a:rPr>
              <a:t>B = bound device, G = inside geofence, F = face verified, W = within time window.</a:t>
            </a:r>
          </a:p>
        </p:txBody>
      </p:sp>
      <p:sp>
        <p:nvSpPr>
          <p:cNvPr id="154" name="Google Shape;154;p25"/>
          <p:cNvSpPr txBox="1"/>
          <p:nvPr>
            <p:ph idx="4294967295" type="title"/>
          </p:nvPr>
        </p:nvSpPr>
        <p:spPr>
          <a:xfrm>
            <a:off x="1028100" y="49529"/>
            <a:ext cx="70878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Materials and Methods Cont’d</a:t>
            </a:r>
            <a:endParaRPr sz="3600">
              <a:solidFill>
                <a:srgbClr val="66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